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표지: 검토 범위(체코 일반구성기업, 룩셈부르크 투자구성기업)와 전제조건.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체코는 규모로 세액 면제 가능하나 신고서·통지 의무는 남음. 룩셈부르크 IE는 de minimis와 TCSH가 모두 배제되어 별도 ETR 계산이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규모 면제는 세액 계산 단계의 면제이며 신고·통지 의무를 없애지 않음. 룩셈 IE는 de minimis, TCSH, 개정안 간이 ETR SH 모두 사실상 활용 불가.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체코: 등록 없음, GIR은 한국 중앙제출로 면제되나 통지 필수. 추가세 신고서 2종은 0원이어도 22개월 내 제출.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룩셈부르크: 등록과 통지는 규모·세액과 무관하게 필수. IE는 de minimis/TCSH 배제로 별도 ETR 계산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예시는 규모감을 보여주기 위한 단순 가정치임. 실제 세액은 펀드 형태, 과세 여부, 소득 구성, 선택권 행사에 따라 달라짐.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역년 사업연도 가정. FY2024 기한(2026.6.30) 경과 항목의 이행 여부부터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현지 인력이 없어도 위임으로 이행 가능. 한국 UPE가 데이터·선택권 행사를 책임지고, 현지 대리인은 제출만 수행하는 구조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조문 요약은 검토 목적의 의역이며 원문 확인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참고자료 링크는 2026.10.2 접속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6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6492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47472"/>
            <a:ext cx="6647688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40080"/>
            <a:ext cx="6647688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100" dirty="0"/>
          </a:p>
        </p:txBody>
      </p:sp>
      <p:sp>
        <p:nvSpPr>
          <p:cNvPr id="4" name="Text 0"/>
          <p:cNvSpPr/>
          <p:nvPr/>
        </p:nvSpPr>
        <p:spPr>
          <a:xfrm>
            <a:off x="457200" y="102229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6"/>
                </a:solidFill>
              </a:rPr>
              <a:t>글로벌최저한세 현지의무 검토  |  체코 · 룩셈부르크 소규모 펀드  |  2026.10.2 기준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47688" y="102229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47688" y="102229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zakonyprolidi.cz/cs/2023-416" TargetMode="External"/><Relationship Id="rId2" Type="http://schemas.openxmlformats.org/officeDocument/2006/relationships/hyperlink" Target="https://www.zakonyprolidi.cz/cs/1991-563" TargetMode="External"/><Relationship Id="rId3" Type="http://schemas.openxmlformats.org/officeDocument/2006/relationships/hyperlink" Target="https://financnisprava.gov.cz/cs/dane/dane/dorovnavaci-dane/obecne-informace" TargetMode="External"/><Relationship Id="rId4" Type="http://schemas.openxmlformats.org/officeDocument/2006/relationships/hyperlink" Target="https://danovky.cz/en/news/detail/1846" TargetMode="External"/><Relationship Id="rId5" Type="http://schemas.openxmlformats.org/officeDocument/2006/relationships/hyperlink" Target="https://wdocs-pub.chd.lu/docs/Dossiers_parlementaires/8795/20260717_Depot.pdf" TargetMode="External"/><Relationship Id="rId6" Type="http://schemas.openxmlformats.org/officeDocument/2006/relationships/hyperlink" Target="https://www.loyensloeff.com/insights/news--events/news/luxembourg-pillar-two-faq-updated-lta-provides-further-guidance-on-registration-and-gir-notification-obligations/" TargetMode="External"/><Relationship Id="rId7" Type="http://schemas.openxmlformats.org/officeDocument/2006/relationships/hyperlink" Target="https://kpmg.com/lu/en/insights/regulatory-updates/updated-pillar-two-faq-clarifies-compliance-obligations.html" TargetMode="External"/><Relationship Id="rId8" Type="http://schemas.openxmlformats.org/officeDocument/2006/relationships/hyperlink" Target="https://www.ey.com/en_lu/insights/tax/luxembourg-launches-pillar-two-registration-and-return-filing" TargetMode="External"/><Relationship Id="rId9" Type="http://schemas.openxmlformats.org/officeDocument/2006/relationships/hyperlink" Target="https://www.oecd.org/content/dam/oecd/en/topics/policy-sub-issues/global-minimum-tax/support-for-central-gir-filing-and-exchange-2024-reporting-fiscal-year.pdf" TargetMode="External"/><Relationship Id="rId10" Type="http://schemas.openxmlformats.org/officeDocument/2006/relationships/hyperlink" Target="https://www.oecd.org/content/dam/oecd/en/topics/policy-issues/tax-transparency-and-international-co-operation/gir-mcaa-signatories.pdf" TargetMode="External"/><Relationship Id="rId11" Type="http://schemas.openxmlformats.org/officeDocument/2006/relationships/hyperlink" Target="https://www.arendt.com/news-insights/news/public-country-by-country-reporting-cbcr-luxembourg/" TargetMode="External"/><Relationship Id="rId12" Type="http://schemas.openxmlformats.org/officeDocument/2006/relationships/hyperlink" Target="https://insightplus.bakermckenzie.com/bm/private-equity/luxembourg-new-accounting-thresholds-in-luxembourg-what-companies-and-groups-need-to-know" TargetMode="External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601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PILLAR 2  ·  LOCAL COMPLIANCE REVIEW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글로벌최저한세 현지의무 검토</a:t>
            </a:r>
            <a:endParaRPr lang="en-US" sz="3000" dirty="0"/>
          </a:p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체코 · 룩셈부르크 소규모 펀드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DMTT · GIR · GIR Notification · Public CbCR — 면제 가능 여부와 근거 규정</a:t>
            </a:r>
            <a:endParaRPr lang="en-US" sz="1250" dirty="0"/>
          </a:p>
        </p:txBody>
      </p:sp>
      <p:sp>
        <p:nvSpPr>
          <p:cNvPr id="5" name="tile-CZ"/>
          <p:cNvSpPr/>
          <p:nvPr/>
        </p:nvSpPr>
        <p:spPr>
          <a:xfrm>
            <a:off x="548640" y="3703320"/>
            <a:ext cx="3136392" cy="2331720"/>
          </a:xfrm>
          <a:prstGeom prst="roundRect">
            <a:avLst>
              <a:gd name="adj" fmla="val 3922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8404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CZ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526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체코 (Czech Republic)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일반구성기업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General Constituent Entity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532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자본금 10억원 · 매출 20억원 · 인원 1명</a:t>
            </a:r>
            <a:endParaRPr lang="en-US" sz="950" dirty="0"/>
          </a:p>
        </p:txBody>
      </p:sp>
      <p:sp>
        <p:nvSpPr>
          <p:cNvPr id="10" name="tile-LU"/>
          <p:cNvSpPr/>
          <p:nvPr/>
        </p:nvSpPr>
        <p:spPr>
          <a:xfrm>
            <a:off x="3877056" y="3703320"/>
            <a:ext cx="3136392" cy="2331720"/>
          </a:xfrm>
          <a:prstGeom prst="roundRect">
            <a:avLst>
              <a:gd name="adj" fmla="val 3922"/>
            </a:avLst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05656" y="38404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LU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105656" y="4526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룩셈부르크 (Luxembourg)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투자구성기업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Investment Entity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105656" y="5532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자본금 10억원 · 매출 20억원 · 인원 1명</a:t>
            </a:r>
            <a:endParaRPr lang="en-US" sz="950" dirty="0"/>
          </a:p>
        </p:txBody>
      </p:sp>
      <p:sp>
        <p:nvSpPr>
          <p:cNvPr id="15" name="assumptions"/>
          <p:cNvSpPr/>
          <p:nvPr/>
        </p:nvSpPr>
        <p:spPr>
          <a:xfrm>
            <a:off x="548640" y="6355080"/>
            <a:ext cx="6464808" cy="1874520"/>
          </a:xfrm>
          <a:prstGeom prst="roundRect">
            <a:avLst>
              <a:gd name="adj" fmla="val 4878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64922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검토 전제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6812280"/>
            <a:ext cx="6080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</a:rPr>
              <a:t>UPE: 한국 소재, Pillar 2 적용 MNE 그룹 (연결매출 EUR 7.5억 이상) — 두 펀드는 UPE의 연결자회사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</a:rPr>
              <a:t>각 국가에 소재한 그룹 구성기업은 해당 펀드 1개뿐, 사업연도 = 역년(1.1~12.31)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</a:rPr>
              <a:t>환율 가정: 1 EUR ≈ 1,600원, 1 CZK ≈ 65원 (매출 20억원 ≈ EUR 1.25m ≈ CZK 31m)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</a:rPr>
              <a:t>법령 기준: 체코 Act No. 416/2023 Coll.(2025.9.3 현행본), 룩셈부르크 2023.12.22 법률(2025.12.19 개정 반영), OECD 2026.5~10 공표자료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</a:rPr>
              <a:t>‘PCBCR’은 EU Public CbCR(법인세 정보 공시, Directive 2021/2101)로 해석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982980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기준일 2026.10.2  |  내부 검토자료 — 신고 전 현지 세무대리인 확인 필요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47472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01  결론 요약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40080"/>
            <a:ext cx="6647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규모가 작아도 ‘신고’ 의무는 남는다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6647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세액 면제는 체코(일반구성기업)만 규모 기준으로 가능하고, 룩셈부르크(투자구성기업)는 규모 면제가 법으로 배제됩니다. GIR 본신고는 한국 UPE의 중앙제출로 양국 모두 면제되지만, 통지·등록·0원 신고서 같은 최소 의무는 현지에서 매년 이행해야 합니다.</a:t>
            </a:r>
            <a:endParaRPr lang="en-US" sz="1050" dirty="0"/>
          </a:p>
        </p:txBody>
      </p:sp>
      <p:graphicFrame>
        <p:nvGraphicFramePr>
          <p:cNvPr id="3" name="summary-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6647688" cy="914400"/>
        </p:xfrm>
        <a:graphic>
          <a:graphicData uri="http://schemas.openxmlformats.org/drawingml/2006/table">
            <a:tbl>
              <a:tblPr/>
              <a:tblGrid>
                <a:gridCol w="1197864"/>
                <a:gridCol w="2724912"/>
                <a:gridCol w="272491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9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체코  ·  일반구성기업</a:t>
                      </a:r>
                      <a:endParaRPr lang="en-US" sz="9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룩셈부르크  ·  투자구성기업</a:t>
                      </a:r>
                      <a:endParaRPr lang="en-US" sz="9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DMTT 세액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(QDMTT)</a:t>
                      </a:r>
                      <a:endParaRPr lang="en-US" sz="95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3"/>
                          </a:solidFill>
                        </a:rPr>
                        <a:t>● 면제 가능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de minimis 선택(§91) 또는 TCSH 소규모 테스트(§92d·§92f)로 추가세 0원. 단, 이익 EUR 1m(≈16억원) 미만 확인 필요</a:t>
                      </a:r>
                      <a:endParaRPr lang="en-US" sz="900" dirty="0"/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</a:rPr>
                        <a:t>● 규모 면제 불가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IE는 de minimis 배제(Art.30(5)), TCSH도 배제(Art.59(7)) → IE 별도 ETR 계산(Art.41). 면세 펀드면 추가세 발생 가능</a:t>
                      </a:r>
                      <a:endParaRPr lang="en-US" sz="900" dirty="0"/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DMTT 신고서</a:t>
                      </a:r>
                      <a:endParaRPr lang="en-US" sz="95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</a:rPr>
                        <a:t>● 의무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세액 0원이어도 2종 제출(체코 추가세 · 배분 추가세), 종료 후 22개월(§132). FY2024분 기한 2026.11.2</a:t>
                      </a:r>
                      <a:endParaRPr lang="en-US" sz="900" dirty="0"/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4"/>
                          </a:solidFill>
                        </a:rPr>
                        <a:t>● 조건부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추가세액이 배분되는 경우에만 신고(Art.51(3), ACD FAQ). 15개월 내 신고, 신고 후 1개월 내 납부</a:t>
                      </a:r>
                      <a:endParaRPr lang="en-US" sz="900" dirty="0"/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GIR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(정보신고)</a:t>
                      </a:r>
                      <a:endParaRPr lang="en-US" sz="95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3"/>
                          </a:solidFill>
                        </a:rPr>
                        <a:t>● 면제 가능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한국 UPE가 교환협정국(한국)에 제출하면 현지 제출의무 이행으로 간주(§130·§131)</a:t>
                      </a:r>
                      <a:endParaRPr lang="en-US" sz="900" dirty="0"/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3"/>
                          </a:solidFill>
                        </a:rPr>
                        <a:t>● 면제 가능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한국 UPE가 적격 CAA 발효국에 제출 시 면제(Art.50(3)). ACD: 2026.12.31 전 현지 GIR 미요구</a:t>
                      </a:r>
                      <a:endParaRPr lang="en-US" sz="900" dirty="0"/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GIR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Notification</a:t>
                      </a:r>
                      <a:endParaRPr lang="en-US" sz="95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</a:rPr>
                        <a:t>● 의무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GIR 기한(15개월, 최초 18개월) 내 제출기업 식별·연락정보 통지(§130(2)·§131(3)), 매년</a:t>
                      </a:r>
                      <a:endParaRPr lang="en-US" sz="900" dirty="0"/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</a:rPr>
                        <a:t>● 의무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제출기업 신원·소재국 통지(Art.50(4)) — MyGuichet 등록 절차에서 함께 제출. 누락 시 EUR 5,000</a:t>
                      </a:r>
                      <a:endParaRPr lang="en-US" sz="900" dirty="0"/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등록</a:t>
                      </a:r>
                      <a:endParaRPr lang="en-US" sz="95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3"/>
                          </a:solidFill>
                        </a:rPr>
                        <a:t>● 해당 없음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체코는 추가세 등록의무 없음(재무행정청 안내)</a:t>
                      </a:r>
                      <a:endParaRPr lang="en-US" sz="900" dirty="0"/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</a:rPr>
                        <a:t>● 의무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IE·펀드 구획 포함 모든 CE 등록, safe harbour 적용과 무관(Art.49). 최초 15개월(전환연도 18개월)</a:t>
                      </a:r>
                      <a:endParaRPr lang="en-US" sz="900" dirty="0"/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Public CbCR</a:t>
                      </a:r>
                      <a:endParaRPr lang="en-US" sz="95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3"/>
                          </a:solidFill>
                        </a:rPr>
                        <a:t>● 해당 없음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비EU 모회사 산하 ‘중·대규모 상사회사’만 대상(회계법 §32o(2)) → 소규모 펀드 제외</a:t>
                      </a:r>
                      <a:endParaRPr lang="en-US" sz="900" dirty="0"/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3"/>
                          </a:solidFill>
                        </a:rPr>
                        <a:t>● 해당 없음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비EU 모회사 산하 중·대규모 자회사만 대상(2023.8.15 법) → 소규모 펀드 제외</a:t>
                      </a:r>
                      <a:endParaRPr lang="en-US" sz="900" dirty="0"/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onclusion"/>
          <p:cNvSpPr/>
          <p:nvPr/>
        </p:nvSpPr>
        <p:spPr>
          <a:xfrm>
            <a:off x="457200" y="7452360"/>
            <a:ext cx="6647688" cy="205740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75895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실무 결론 — 매년 해야 할 최소 업무</a:t>
            </a:r>
            <a:endParaRPr lang="en-US" sz="1150" dirty="0"/>
          </a:p>
        </p:txBody>
      </p:sp>
      <p:sp>
        <p:nvSpPr>
          <p:cNvPr id="8" name="marker-CZ"/>
          <p:cNvSpPr/>
          <p:nvPr/>
        </p:nvSpPr>
        <p:spPr>
          <a:xfrm>
            <a:off x="731520" y="80467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marker-num-CZ"/>
          <p:cNvSpPr txBox="1"/>
          <p:nvPr/>
        </p:nvSpPr>
        <p:spPr>
          <a:xfrm>
            <a:off x="731520" y="8046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CZ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8010144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체코  </a:t>
            </a:r>
            <a:pPr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① GIR 통지(15개월)  ② 0원 추가세 신고서 2종(22개월). 세액은 de minimis/TCSH로 0원 — 현지 세무대리인 위임으로 처리 가능</a:t>
            </a:r>
            <a:endParaRPr lang="en-US" sz="950" dirty="0"/>
          </a:p>
        </p:txBody>
      </p:sp>
      <p:sp>
        <p:nvSpPr>
          <p:cNvPr id="11" name="marker-LU"/>
          <p:cNvSpPr/>
          <p:nvPr/>
        </p:nvSpPr>
        <p:spPr>
          <a:xfrm>
            <a:off x="731520" y="87325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marker-num-LU"/>
          <p:cNvSpPr txBox="1"/>
          <p:nvPr/>
        </p:nvSpPr>
        <p:spPr>
          <a:xfrm>
            <a:off x="731520" y="873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LU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8695944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룩셈부르크  </a:t>
            </a:r>
            <a:pPr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① 등록(최초·변경 시)  ② GIR 통지(15개월)  ③ IE 별도 ETR 계산 → 추가세 있으면 QDMTT 신고·납부. 펀드 운용사/관리사(AIFM·Administrator) 또는 세무대리인이 MyGuichet로 제출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47688" y="102229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47472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02  규모 기준 면제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40080"/>
            <a:ext cx="6647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규모 기준 면제 — 펀드 수치를 대입하면</a:t>
            </a:r>
            <a:endParaRPr lang="en-US" sz="2100" dirty="0"/>
          </a:p>
        </p:txBody>
      </p:sp>
      <p:sp>
        <p:nvSpPr>
          <p:cNvPr id="4" name="stat-0"/>
          <p:cNvSpPr/>
          <p:nvPr/>
        </p:nvSpPr>
        <p:spPr>
          <a:xfrm>
            <a:off x="457200" y="1325880"/>
            <a:ext cx="2093976" cy="1024128"/>
          </a:xfrm>
          <a:prstGeom prst="roundRect">
            <a:avLst>
              <a:gd name="adj" fmla="val 7143"/>
            </a:avLst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89888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EUR 1.25m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01368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매출 20억원 (≈ CZK 31m)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de minimis 매출 기준 EUR 10m의 12.5%</a:t>
            </a:r>
            <a:endParaRPr lang="en-US" sz="750" dirty="0"/>
          </a:p>
        </p:txBody>
      </p:sp>
      <p:sp>
        <p:nvSpPr>
          <p:cNvPr id="8" name="stat-1"/>
          <p:cNvSpPr/>
          <p:nvPr/>
        </p:nvSpPr>
        <p:spPr>
          <a:xfrm>
            <a:off x="2734056" y="1325880"/>
            <a:ext cx="2093976" cy="1024128"/>
          </a:xfrm>
          <a:prstGeom prst="roundRect">
            <a:avLst>
              <a:gd name="adj" fmla="val 7143"/>
            </a:avLst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71216" y="1389888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EUR 0.63m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2871216" y="1801368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자본금 10억원 (≈ CZK 15m)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871216" y="2011680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PCbCR 소규모 자산 기준 대비 미미</a:t>
            </a:r>
            <a:endParaRPr lang="en-US" sz="750" dirty="0"/>
          </a:p>
        </p:txBody>
      </p:sp>
      <p:sp>
        <p:nvSpPr>
          <p:cNvPr id="12" name="stat-2"/>
          <p:cNvSpPr/>
          <p:nvPr/>
        </p:nvSpPr>
        <p:spPr>
          <a:xfrm>
            <a:off x="5010912" y="1325880"/>
            <a:ext cx="2093976" cy="1024128"/>
          </a:xfrm>
          <a:prstGeom prst="roundRect">
            <a:avLst>
              <a:gd name="adj" fmla="val 7143"/>
            </a:avLst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48072" y="1389888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1명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5148072" y="1801368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인원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148072" y="2011680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SBIE(급여·유형자산 공제) 효과 미미</a:t>
            </a:r>
            <a:endParaRPr lang="en-US" sz="750" dirty="0"/>
          </a:p>
        </p:txBody>
      </p:sp>
      <p:graphicFrame>
        <p:nvGraphicFramePr>
          <p:cNvPr id="4" name="size-tes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6647688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737360"/>
                <a:gridCol w="1856232"/>
                <a:gridCol w="1865376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면제 제도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요건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체코 · 일반 CE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룩셈 · IE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De minimis 제외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(GloBE 5.5)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관할국 3년 평균 매출 &lt; EUR 10m 및 이익 &lt; EUR 1m. 매년 GIR에서 선택</a:t>
                      </a:r>
                      <a:endParaRPr lang="en-US" sz="8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accent3"/>
                          </a:solidFill>
                        </a:rPr>
                        <a:t>● 적용 가능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§91 — 매출 충족, 이익 16억원 미만 확인</a:t>
                      </a:r>
                      <a:endParaRPr lang="en-US" sz="85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● 적용 배제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IE 매출·이익은 계산에서도 제외(Art.30(5))</a:t>
                      </a:r>
                      <a:endParaRPr lang="en-US" sz="85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TCSH 소규모 테스트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(전환기 CbCR SH)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CbCR 매출 &lt; EUR 10m 및 세전이익 &lt; EUR 1m. FY2026까지(룩셈 개정안: FY2027)</a:t>
                      </a:r>
                      <a:endParaRPr lang="en-US" sz="8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accent3"/>
                          </a:solidFill>
                        </a:rPr>
                        <a:t>● 적용 가능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§92d·§92f — 한 번 미적용 시 재적용 불가</a:t>
                      </a:r>
                      <a:endParaRPr lang="en-US" sz="85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● 사실상 불가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소유자 전원이 룩셈 소재일 때만(Art.59(7)·(8))</a:t>
                      </a:r>
                      <a:endParaRPr lang="en-US" sz="85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간이 ETR SH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(신규·개정안)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FY2027~(조건부 FY2026). 간이 ETR ≥ 15% 또는 간이 손실</a:t>
                      </a:r>
                      <a:endParaRPr lang="en-US" sz="8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accent4"/>
                          </a:solidFill>
                        </a:rPr>
                        <a:t>● 입법 모니터링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체코 도입 여부 미확정</a:t>
                      </a:r>
                      <a:endParaRPr lang="en-US" sz="85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● 해당 없음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‘동일관할 IE’(소유자 전원 룩셈)만 포함(개정안 Art.32quinquies)</a:t>
                      </a:r>
                      <a:endParaRPr lang="en-US" sz="85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QDMTT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Safe Harbour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현지 QDMTT가 OECD 인정 → 한국 IIR 계산 생략</a:t>
                      </a:r>
                      <a:endParaRPr lang="en-US" sz="8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accent4"/>
                          </a:solidFill>
                        </a:rPr>
                        <a:t>● 한국 IIR만 면제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현지 QDMTT 계산·신고는 별도로 존속</a:t>
                      </a:r>
                      <a:endParaRPr lang="en-US" sz="85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accent4"/>
                          </a:solidFill>
                        </a:rPr>
                        <a:t>● 한국 IIR만 면제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IE 포함 현지 QDMTT는 존속(Art.44(3))</a:t>
                      </a:r>
                      <a:endParaRPr lang="en-US" sz="85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Public CbCR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소규모 면제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3개 중 2개 이하 — CZ: 자산 1.2억·매출 2.4억 CZK·50명 / LU: 자산 7.5m·매출 15m EUR·50명</a:t>
                      </a:r>
                      <a:endParaRPr lang="en-US" sz="8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accent3"/>
                          </a:solidFill>
                        </a:rPr>
                        <a:t>● 소규모 → 대상 아님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회계법 §1b(2), §32o(2)</a:t>
                      </a:r>
                      <a:endParaRPr lang="en-US" sz="85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accent3"/>
                          </a:solidFill>
                        </a:rPr>
                        <a:t>● 소규모 → 대상 아님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Grand-Ducal Reg. 2024.10.25</a:t>
                      </a:r>
                      <a:endParaRPr lang="en-US" sz="85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신고의무 자체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규모를 이유로 한 신고 면제 조항</a:t>
                      </a:r>
                      <a:endParaRPr lang="en-US" sz="8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● 없음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저세율 여부와 무관하게 신고(§129·§132)</a:t>
                      </a:r>
                      <a:endParaRPr lang="en-US" sz="85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● 없음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모든 CE 등록(Art.49), 통지(Art.50(4))</a:t>
                      </a:r>
                      <a:endParaRPr lang="en-US" sz="85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caution"/>
          <p:cNvSpPr/>
          <p:nvPr/>
        </p:nvSpPr>
        <p:spPr>
          <a:xfrm>
            <a:off x="457200" y="7269480"/>
            <a:ext cx="6647688" cy="1371600"/>
          </a:xfrm>
          <a:prstGeom prst="roundRect">
            <a:avLst>
              <a:gd name="adj" fmla="val 5333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" y="737920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펀드 특유의 함정 — ‘매출 ≈ 이익’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7708392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펀드는 비용이 적어 매출 20억원이 거의 그대로 이익이 될 수 있음. 이익이 EUR 1m(≈16억원) 이상이면 체코도 de minimis·TCSH 소규모 테스트 탈락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이 경우 체코는 TCSH ETR 테스트(간이 ETR ≥ 15%/16%/17%, FY2024/25/26) 또는 일상이익 테스트로 판단. 체코 ‘기본투자펀드’로 법인세 5%가 적용되면 ETR 테스트도 탈락 → 체코 QDMTT 발생 가능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de minimis는 관할국 단위 판정 — 같은 나라에 다른 그룹 구성기업이 있으면 합산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47688" y="102229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47472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03  체코 (Czech Republic)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40080"/>
            <a:ext cx="6647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체코 — 세액은 0원 가능, 신고·통지는 매년</a:t>
            </a:r>
            <a:endParaRPr lang="en-US" sz="2100" dirty="0"/>
          </a:p>
        </p:txBody>
      </p:sp>
      <p:sp>
        <p:nvSpPr>
          <p:cNvPr id="4" name="legal-basis"/>
          <p:cNvSpPr/>
          <p:nvPr/>
        </p:nvSpPr>
        <p:spPr>
          <a:xfrm>
            <a:off x="457200" y="1298448"/>
            <a:ext cx="6647688" cy="475488"/>
          </a:xfrm>
          <a:prstGeom prst="roundRect">
            <a:avLst>
              <a:gd name="adj" fmla="val 15385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6373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근거: Act No. 416/2023 Coll. 대형 다국적·국내그룹 추가세법(2025 개정 현행본)  |  관할: 특수재무관청(SFÚ)  |  제출: 전자 전용 — MOJE daně 포털·데이터박스(§128)</a:t>
            </a:r>
            <a:endParaRPr lang="en-US" sz="850" dirty="0"/>
          </a:p>
        </p:txBody>
      </p:sp>
      <p:graphicFrame>
        <p:nvGraphicFramePr>
          <p:cNvPr id="5" name="obliga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01952"/>
          <a:ext cx="6647688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804672"/>
                <a:gridCol w="3236976"/>
                <a:gridCol w="15087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의무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판정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내용 · 근거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기한 (역년 FY)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DMTT 세액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(체코 추가세)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면제 가능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납세의무자는 체코 구성기업 각각(§117). de minimis 선택(§91) 또는 TCSH(§92d·§92f) 적용 시 추가세 0원. 선택은 GIR에서 행사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추가세 신고서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2종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의무</a:t>
                      </a:r>
                      <a:endParaRPr lang="en-US" sz="850" dirty="0"/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0원도 제출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‘체코 추가세’와 ‘배분 추가세(IIR·UTPR)’를 납세자별로 각각 신고, 그룹 일괄신고 없음(§132, 연장 불가). 미신고 시 0원 간주·지연가산세 없음(§135(2)), 단 비금전 의무 위반 과태료 최대 CZK 1.5m(§140)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FY2024: 2026.11.2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FY2025: 2027.11.1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GIR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(Informační přehled)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면제 가능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원칙 15개월(최초 18개월), 연장 불가(§129). 한국 UPE가 교환협정국(한국)에 제출하고 내용요건을 충족하면 체코 제출의무 이행으로 간주(§130(1)·§131(2))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FY2024: 2026.6.30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FY2025: 2027.3.31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GIR Notification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(Oznámení)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의무</a:t>
                      </a:r>
                      <a:endParaRPr lang="en-US" sz="850" dirty="0"/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매년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GIR 기한 내에 GIR 제출기업의 식별·연락정보 통지(§130(2)·§131(3)). 체코 추가세용·배분 추가세용 모두 해당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FY2024: 2026.6.30 (경과)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FY2025: 2027.3.31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등록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해당 없음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추가세 등록의무 없음(재무행정청 ‘Obecné informace’)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Public CbCR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해당 없음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회계법 §32o(2): 비EU 최종모회사 산하 ‘중·대규모 + 상사회사(obchodní společnost)’만 대상. 펀드는 소규모(§1b(2)) → 대상 아님. 법인격 없는 펀드면 상사회사 요건도 불충족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7077456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체크포인트</a:t>
            </a:r>
            <a:endParaRPr lang="en-US" sz="1050" dirty="0"/>
          </a:p>
        </p:txBody>
      </p:sp>
      <p:sp>
        <p:nvSpPr>
          <p:cNvPr id="8" name="note-0"/>
          <p:cNvSpPr/>
          <p:nvPr/>
        </p:nvSpPr>
        <p:spPr>
          <a:xfrm>
            <a:off x="457200" y="7424928"/>
            <a:ext cx="3209544" cy="1600200"/>
          </a:xfrm>
          <a:prstGeom prst="roundRect">
            <a:avLst>
              <a:gd name="adj" fmla="val 4571"/>
            </a:avLst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7516368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한국–체코 GIR 교환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7808976"/>
            <a:ext cx="2935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GIR MCAA 서명: 한국 2025.7.9, 체코 2026.5.11. 양국 모두 OECD 중앙제출 공동이해(2026.5.18) 참여 → 한국 중앙제출 + 체코 통지 시 2026.12.31까지 현지 GIR 집행 유예·가산세 면제. 2027년 이후는 교환관계 활성화 여부 확인 필요</a:t>
            </a:r>
            <a:endParaRPr lang="en-US" sz="900" dirty="0"/>
          </a:p>
        </p:txBody>
      </p:sp>
      <p:sp>
        <p:nvSpPr>
          <p:cNvPr id="11" name="note-1"/>
          <p:cNvSpPr/>
          <p:nvPr/>
        </p:nvSpPr>
        <p:spPr>
          <a:xfrm>
            <a:off x="3895344" y="7424928"/>
            <a:ext cx="3209544" cy="1600200"/>
          </a:xfrm>
          <a:prstGeom prst="roundRect">
            <a:avLst>
              <a:gd name="adj" fmla="val 4571"/>
            </a:avLst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032504" y="7516368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FY2024 이행 점검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032504" y="7808976"/>
            <a:ext cx="2935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통지 기한 2026.6.30은 이미 경과 — 미이행 시 즉시 보완 권고(재무행정청은 첫해 신규 제도임을 고려하겠다고 안내). 가장 임박한 기한은 2026.11.2 추가세 신고서 2종. 일반 CbCR 통지는 최초 1회(변경 시 재제출)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47688" y="102229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47472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04  룩셈부르크 (Luxembourg)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40080"/>
            <a:ext cx="6647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룩셈부르크 — 등록·통지 필수, 세액은 IE 별도 계산</a:t>
            </a:r>
            <a:endParaRPr lang="en-US" sz="2100" dirty="0"/>
          </a:p>
        </p:txBody>
      </p:sp>
      <p:sp>
        <p:nvSpPr>
          <p:cNvPr id="4" name="legal-basis"/>
          <p:cNvSpPr/>
          <p:nvPr/>
        </p:nvSpPr>
        <p:spPr>
          <a:xfrm>
            <a:off x="457200" y="1298448"/>
            <a:ext cx="6647688" cy="475488"/>
          </a:xfrm>
          <a:prstGeom prst="roundRect">
            <a:avLst>
              <a:gd name="adj" fmla="val 15385"/>
            </a:avLst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6373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근거: 최저실효세법(Loi du 22 décembre 2023, 2024.12.20·2025.12.19 개정)  |  관할: 직접세청(ACD)  |  제출: MyGuichet.lu(LuxTrust 인증)</a:t>
            </a:r>
            <a:endParaRPr lang="en-US" sz="850" dirty="0"/>
          </a:p>
        </p:txBody>
      </p:sp>
      <p:graphicFrame>
        <p:nvGraphicFramePr>
          <p:cNvPr id="6" name="obliga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01952"/>
          <a:ext cx="6647688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804672"/>
                <a:gridCol w="3236976"/>
                <a:gridCol w="15087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의무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판정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내용 · 근거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기한 (역년 FY)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등록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(Art.49)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의무</a:t>
                      </a:r>
                      <a:endParaRPr lang="en-US" sz="850" dirty="0"/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최초·변경 시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IE·펀드 구획(별도 TIN) 포함 모든 룩셈 CE 대상, safe harbour·전환기 면제 적용과 무관(ACD FAQ 2026.6.4). 변경사항은 15개월 내 신고. 미이행·부정확 시 EUR 5,000(정액)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최초: 2026.6.30 (경과)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변경: 15개월 내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GIR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(Art.50)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면제 가능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원칙 15개월(전환연도 18개월, Art.56). 한국 UPE가 적격 CAA 발효국에서 제출 시 면제(Art.50(3)). ACD 관용: 2026.12.31 전 현지 GIR 미요구. 교환 미수신 통보 시 1개월 내 현지 제출(Art.50(11))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FY2024: 2026.6.30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FY2025: 2027.3.31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GIR Notification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(Art.50(4))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의무</a:t>
                      </a:r>
                      <a:endParaRPr lang="en-US" sz="850" dirty="0"/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매년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GIR 제출기업 신원·소재국 통지 — MyGuichet 등록 절차에서 함께 제출. 과태료: 통지 누락 EUR 5,000 / GIR 미제출 최대 EUR 250,000 / 해외제출 입증 실패 최대 EUR 300,000(Art.50(8))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FY2024: 2026.6.30 (경과)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FY2025: 2027.3.31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QDMTT 세액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(Art.44)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면제 불가</a:t>
                      </a:r>
                      <a:endParaRPr lang="en-US" sz="850" dirty="0"/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규모 기준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IE는 de minimis 배제(Art.30(5))·TCSH 배제(Art.59(7)) → 별도 ETR(Art.41) 계산. 룩셈 QDMTT는 IE에도 적용(Art.44(3)이 7장 준용)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QDMTT 신고·납부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(Art.51)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조건부</a:t>
                      </a:r>
                      <a:endParaRPr lang="en-US" sz="850" dirty="0"/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세액 시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추가세액이 배분된 경우에만 신고(Art.51(3), ACD FAQ). 15개월(전환연도 18개월) 내 신고, 신고 후 1개월 내 납부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FY2024: 2026.6.30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FY2025: 2027.3.31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Public CbCR</a:t>
                      </a:r>
                      <a:endParaRPr lang="en-US" sz="90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해당 없음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2023.8.15 법: 비EU UPE 산하 중·대규모 자회사만 대상. 소규모 기준(자산 EUR 7.5m·매출 15m·50명, GDR 2024.10.25) 이하 → 대상 아님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7351776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체크포인트</a:t>
            </a:r>
            <a:endParaRPr lang="en-US" sz="1050" dirty="0"/>
          </a:p>
        </p:txBody>
      </p:sp>
      <p:sp>
        <p:nvSpPr>
          <p:cNvPr id="8" name="note-0"/>
          <p:cNvSpPr/>
          <p:nvPr/>
        </p:nvSpPr>
        <p:spPr>
          <a:xfrm>
            <a:off x="457200" y="7699248"/>
            <a:ext cx="3209544" cy="1600200"/>
          </a:xfrm>
          <a:prstGeom prst="roundRect">
            <a:avLst>
              <a:gd name="adj" fmla="val 4571"/>
            </a:avLst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7790688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FY2024 이행 점검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8083296"/>
            <a:ext cx="2935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등록·GIR 통지 기한 2026.6.30은 이미 경과 — 미등록이면 즉시 등록(지연 과태료 EUR 5,000 가능). IE 추가세가 있었다면 FY2024 QDMTT 신고(2026.6.30)·납부도 점검. 일반 CbCR 통지는 매 사업연도 말일까지 매년 제출(소규모 면제 없음)</a:t>
            </a:r>
            <a:endParaRPr lang="en-US" sz="900" dirty="0"/>
          </a:p>
        </p:txBody>
      </p:sp>
      <p:sp>
        <p:nvSpPr>
          <p:cNvPr id="11" name="note-1"/>
          <p:cNvSpPr/>
          <p:nvPr/>
        </p:nvSpPr>
        <p:spPr>
          <a:xfrm>
            <a:off x="3895344" y="7699248"/>
            <a:ext cx="3209544" cy="1600200"/>
          </a:xfrm>
          <a:prstGeom prst="roundRect">
            <a:avLst>
              <a:gd name="adj" fmla="val 4571"/>
            </a:avLst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032504" y="7790688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입법 동향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032504" y="8083296"/>
            <a:ext cx="2935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개정안 8795(2026.7.17 제출): Side-by-Side·간이 ETR Safe Harbour 도입, TCSH 1년 연장(FY2027). 간이 ETR SH도 ‘동일관할 IE’(소유자 전원 룩셈 소재)만 포함하므로 한국 UPE가 보유한 본건 IE에는 실익 제한적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47688" y="102229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47472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05  룩셈부르크 투자구성기업 심층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40080"/>
            <a:ext cx="6647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IE는 규모와 무관하게 ‘별도 ETR’ 계산이 출발점</a:t>
            </a:r>
            <a:endParaRPr lang="en-US" sz="2100" dirty="0"/>
          </a:p>
        </p:txBody>
      </p:sp>
      <p:sp>
        <p:nvSpPr>
          <p:cNvPr id="4" name="step-1"/>
          <p:cNvSpPr/>
          <p:nvPr/>
        </p:nvSpPr>
        <p:spPr>
          <a:xfrm>
            <a:off x="457200" y="1371600"/>
            <a:ext cx="3977640" cy="1051560"/>
          </a:xfrm>
          <a:prstGeom prst="roundRect">
            <a:avLst>
              <a:gd name="adj" fmla="val 6957"/>
            </a:avLst>
          </a:prstGeom>
          <a:solidFill>
            <a:schemeClr val="accent2">
              <a:alpha val="9000"/>
            </a:schemeClr>
          </a:solidFill>
          <a:ln/>
        </p:spPr>
      </p:sp>
      <p:sp>
        <p:nvSpPr>
          <p:cNvPr id="5" name="marker-1"/>
          <p:cNvSpPr/>
          <p:nvPr/>
        </p:nvSpPr>
        <p:spPr>
          <a:xfrm>
            <a:off x="594360" y="150876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marker-num-1"/>
          <p:cNvSpPr txBox="1"/>
          <p:nvPr/>
        </p:nvSpPr>
        <p:spPr>
          <a:xfrm>
            <a:off x="59436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50876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IE 해당 여부 재확인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1874520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GloBE 10.1 Investment Fund·REIV 요건(다수 투자자 자금 풀링, 투자정책, 규제·전문 운용 등). 미해당이면 일반 CE → 체코처럼 de minimis·TCSH 활용 가능</a:t>
            </a:r>
            <a:endParaRPr lang="en-US" sz="850" dirty="0"/>
          </a:p>
        </p:txBody>
      </p:sp>
      <p:sp>
        <p:nvSpPr>
          <p:cNvPr id="9" name="arrow-0"/>
          <p:cNvSpPr/>
          <p:nvPr/>
        </p:nvSpPr>
        <p:spPr>
          <a:xfrm>
            <a:off x="658368" y="2450592"/>
            <a:ext cx="201168" cy="182880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10" name="step-2"/>
          <p:cNvSpPr/>
          <p:nvPr/>
        </p:nvSpPr>
        <p:spPr>
          <a:xfrm>
            <a:off x="457200" y="2624328"/>
            <a:ext cx="3977640" cy="1051560"/>
          </a:xfrm>
          <a:prstGeom prst="roundRect">
            <a:avLst>
              <a:gd name="adj" fmla="val 6957"/>
            </a:avLst>
          </a:prstGeom>
          <a:solidFill>
            <a:schemeClr val="accent2">
              <a:alpha val="9000"/>
            </a:schemeClr>
          </a:solidFill>
          <a:ln/>
        </p:spPr>
      </p:sp>
      <p:sp>
        <p:nvSpPr>
          <p:cNvPr id="11" name="marker-2"/>
          <p:cNvSpPr/>
          <p:nvPr/>
        </p:nvSpPr>
        <p:spPr>
          <a:xfrm>
            <a:off x="594360" y="276148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marker-num-2"/>
          <p:cNvSpPr txBox="1"/>
          <p:nvPr/>
        </p:nvSpPr>
        <p:spPr>
          <a:xfrm>
            <a:off x="5943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76148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세법상 투명기업인지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3127248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SCSp 등 투명 조합형이면 GloBE 소득이 소유자(한국)에 귀속(GloBE 3.5.1) → 룩셈 QDMTT 대상 소득이 없을 수 있음. 법인형(SICAV·SIF·RAIF 등)이면 아래 단계로</a:t>
            </a:r>
            <a:endParaRPr lang="en-US" sz="850" dirty="0"/>
          </a:p>
        </p:txBody>
      </p:sp>
      <p:sp>
        <p:nvSpPr>
          <p:cNvPr id="15" name="arrow-1"/>
          <p:cNvSpPr/>
          <p:nvPr/>
        </p:nvSpPr>
        <p:spPr>
          <a:xfrm>
            <a:off x="658368" y="3703320"/>
            <a:ext cx="201168" cy="182880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16" name="step-3"/>
          <p:cNvSpPr/>
          <p:nvPr/>
        </p:nvSpPr>
        <p:spPr>
          <a:xfrm>
            <a:off x="457200" y="3877056"/>
            <a:ext cx="3977640" cy="1051560"/>
          </a:xfrm>
          <a:prstGeom prst="roundRect">
            <a:avLst>
              <a:gd name="adj" fmla="val 6957"/>
            </a:avLst>
          </a:prstGeom>
          <a:solidFill>
            <a:schemeClr val="accent2">
              <a:alpha val="9000"/>
            </a:schemeClr>
          </a:solidFill>
          <a:ln/>
        </p:spPr>
      </p:sp>
      <p:sp>
        <p:nvSpPr>
          <p:cNvPr id="17" name="marker-3"/>
          <p:cNvSpPr/>
          <p:nvPr/>
        </p:nvSpPr>
        <p:spPr>
          <a:xfrm>
            <a:off x="594360" y="401421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marker-num-3"/>
          <p:cNvSpPr txBox="1"/>
          <p:nvPr/>
        </p:nvSpPr>
        <p:spPr>
          <a:xfrm>
            <a:off x="59436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0142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선택권 검토 (Art.42·43)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4379976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투명기업 간주: 소유자가 공정가치 기준 15% 이상 과세될 때. 과세분배방식: 소유자가 분배금에 15% 이상 과세가 예상될 때 — 한국 외국자회사 배당 익금불산입 적용 시 불충족 가능</a:t>
            </a:r>
            <a:endParaRPr lang="en-US" sz="850" dirty="0"/>
          </a:p>
        </p:txBody>
      </p:sp>
      <p:sp>
        <p:nvSpPr>
          <p:cNvPr id="21" name="arrow-2"/>
          <p:cNvSpPr/>
          <p:nvPr/>
        </p:nvSpPr>
        <p:spPr>
          <a:xfrm>
            <a:off x="658368" y="4956048"/>
            <a:ext cx="201168" cy="182880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22" name="step-4"/>
          <p:cNvSpPr/>
          <p:nvPr/>
        </p:nvSpPr>
        <p:spPr>
          <a:xfrm>
            <a:off x="457200" y="5129784"/>
            <a:ext cx="3977640" cy="1051560"/>
          </a:xfrm>
          <a:prstGeom prst="roundRect">
            <a:avLst>
              <a:gd name="adj" fmla="val 6957"/>
            </a:avLst>
          </a:prstGeom>
          <a:solidFill>
            <a:schemeClr val="accent2">
              <a:alpha val="9000"/>
            </a:schemeClr>
          </a:solidFill>
          <a:ln/>
        </p:spPr>
      </p:sp>
      <p:sp>
        <p:nvSpPr>
          <p:cNvPr id="23" name="marker-4"/>
          <p:cNvSpPr/>
          <p:nvPr/>
        </p:nvSpPr>
        <p:spPr>
          <a:xfrm>
            <a:off x="594360" y="526694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marker-num-4"/>
          <p:cNvSpPr txBox="1"/>
          <p:nvPr/>
        </p:nvSpPr>
        <p:spPr>
          <a:xfrm>
            <a:off x="594360" y="5266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" y="526694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별도 ETR 계산 (Art.41)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5632704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ETR = 조정 대상조세 ÷ 그룹 귀속 GloBE 이익.  추가세 = (15% − ETR) × (GloBE 이익 − SBIE). 동일 관할 IE끼리만 합산</a:t>
            </a:r>
            <a:endParaRPr lang="en-US" sz="850" dirty="0"/>
          </a:p>
        </p:txBody>
      </p:sp>
      <p:sp>
        <p:nvSpPr>
          <p:cNvPr id="27" name="illustration"/>
          <p:cNvSpPr/>
          <p:nvPr/>
        </p:nvSpPr>
        <p:spPr>
          <a:xfrm>
            <a:off x="4663440" y="1371600"/>
            <a:ext cx="2441448" cy="4809744"/>
          </a:xfrm>
          <a:prstGeom prst="roundRect">
            <a:avLst>
              <a:gd name="adj" fmla="val 3745"/>
            </a:avLst>
          </a:prstGeom>
          <a:solidFill>
            <a:schemeClr val="tx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46320" y="150876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규모감 예시 (가정)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GloBE 이익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97880" y="18745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EUR 0.6m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2148840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6"/>
                </a:solidFill>
              </a:rPr>
              <a:t>≈ 10억원 (매출 20억원 가정)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대상조세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897880" y="242316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846320" y="2697480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6"/>
                </a:solidFill>
              </a:rPr>
              <a:t>법인세 면제 펀드 가정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SBIE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897880" y="29718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≈ 0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3246120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6"/>
                </a:solidFill>
              </a:rPr>
              <a:t>인원 1명, 유형자산 없음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4846320" y="3520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ETR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897880" y="35204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0%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846320" y="3794760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6"/>
                </a:solidFill>
              </a:rPr>
              <a:t>15%에 미달</a:t>
            </a:r>
            <a:endParaRPr lang="en-US" sz="750" dirty="0"/>
          </a:p>
        </p:txBody>
      </p:sp>
      <p:sp>
        <p:nvSpPr>
          <p:cNvPr id="41" name="sum-line"/>
          <p:cNvSpPr/>
          <p:nvPr/>
        </p:nvSpPr>
        <p:spPr>
          <a:xfrm>
            <a:off x="4846320" y="4087368"/>
            <a:ext cx="2075688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46320" y="416052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룩셈 QDMTT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4846320" y="4416552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≈ EUR 90k</a:t>
            </a:r>
            <a:endParaRPr lang="en-US" sz="2400" dirty="0"/>
          </a:p>
        </p:txBody>
      </p:sp>
      <p:sp>
        <p:nvSpPr>
          <p:cNvPr id="44" name="Text 42"/>
          <p:cNvSpPr txBox="1"/>
          <p:nvPr/>
        </p:nvSpPr>
        <p:spPr>
          <a:xfrm>
            <a:off x="4846320" y="4873752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15% × EUR 0.6m ≈ 1.4억원 — 신고·납부 대상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4846320" y="5312664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</a:rPr>
              <a:t>적격배당(Excluded Dividends)과 지분 10% 이상 처분손익(Excluded Equity Gain/Loss)은 GloBE 이익에서 제외 → 실제 세액은 소득 구성에 따라 감소 가능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446520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현지 계산 전 확보할 데이터</a:t>
            </a:r>
            <a:endParaRPr lang="en-US" sz="1050" dirty="0"/>
          </a:p>
        </p:txBody>
      </p:sp>
      <p:sp>
        <p:nvSpPr>
          <p:cNvPr id="47" name="data-0"/>
          <p:cNvSpPr/>
          <p:nvPr/>
        </p:nvSpPr>
        <p:spPr>
          <a:xfrm>
            <a:off x="457200" y="6812280"/>
            <a:ext cx="3232404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66928" y="6812280"/>
            <a:ext cx="3049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2"/>
                </a:solidFill>
              </a:rPr>
              <a:t>☐  </a:t>
            </a:r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펀드 법적형태 (SICAV · SIF · RAIF · SCSp · SOPARFI 등)</a:t>
            </a:r>
            <a:endParaRPr lang="en-US" sz="850" dirty="0"/>
          </a:p>
        </p:txBody>
      </p:sp>
      <p:sp>
        <p:nvSpPr>
          <p:cNvPr id="49" name="data-1"/>
          <p:cNvSpPr/>
          <p:nvPr/>
        </p:nvSpPr>
        <p:spPr>
          <a:xfrm>
            <a:off x="3872484" y="6812280"/>
            <a:ext cx="3232404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3982212" y="6812280"/>
            <a:ext cx="3049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2"/>
                </a:solidFill>
              </a:rPr>
              <a:t>☐  </a:t>
            </a:r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룩셈 법인세 과세 여부 (면세 펀드 / 과세 법인)</a:t>
            </a:r>
            <a:endParaRPr lang="en-US" sz="850" dirty="0"/>
          </a:p>
        </p:txBody>
      </p:sp>
      <p:sp>
        <p:nvSpPr>
          <p:cNvPr id="51" name="data-2"/>
          <p:cNvSpPr/>
          <p:nvPr/>
        </p:nvSpPr>
        <p:spPr>
          <a:xfrm>
            <a:off x="457200" y="7379208"/>
            <a:ext cx="3232404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66928" y="7379208"/>
            <a:ext cx="3049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2"/>
                </a:solidFill>
              </a:rPr>
              <a:t>☐  </a:t>
            </a:r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소득 구성 (이자 · 배당 · 평가손익 · 처분손익)</a:t>
            </a:r>
            <a:endParaRPr lang="en-US" sz="850" dirty="0"/>
          </a:p>
        </p:txBody>
      </p:sp>
      <p:sp>
        <p:nvSpPr>
          <p:cNvPr id="53" name="data-3"/>
          <p:cNvSpPr/>
          <p:nvPr/>
        </p:nvSpPr>
        <p:spPr>
          <a:xfrm>
            <a:off x="3872484" y="7379208"/>
            <a:ext cx="3232404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3982212" y="7379208"/>
            <a:ext cx="3049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2"/>
                </a:solidFill>
              </a:rPr>
              <a:t>☐  </a:t>
            </a:r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피투자회사 지분율·보유기간 (10% / 1년 기준)</a:t>
            </a:r>
            <a:endParaRPr lang="en-US" sz="850" dirty="0"/>
          </a:p>
        </p:txBody>
      </p:sp>
      <p:sp>
        <p:nvSpPr>
          <p:cNvPr id="55" name="data-4"/>
          <p:cNvSpPr/>
          <p:nvPr/>
        </p:nvSpPr>
        <p:spPr>
          <a:xfrm>
            <a:off x="457200" y="7946136"/>
            <a:ext cx="3232404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66928" y="7946136"/>
            <a:ext cx="3049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2"/>
                </a:solidFill>
              </a:rPr>
              <a:t>☐  </a:t>
            </a:r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한국 UPE의 분배금 과세방식 (익금불산입 적용 여부)</a:t>
            </a:r>
            <a:endParaRPr lang="en-US" sz="850" dirty="0"/>
          </a:p>
        </p:txBody>
      </p:sp>
      <p:sp>
        <p:nvSpPr>
          <p:cNvPr id="57" name="data-5"/>
          <p:cNvSpPr/>
          <p:nvPr/>
        </p:nvSpPr>
        <p:spPr>
          <a:xfrm>
            <a:off x="3872484" y="7946136"/>
            <a:ext cx="3232404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3982212" y="7946136"/>
            <a:ext cx="3049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2"/>
                </a:solidFill>
              </a:rPr>
              <a:t>☐  </a:t>
            </a:r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룩셈 내 다른 그룹 CE·IE 존재 여부</a:t>
            </a:r>
            <a:endParaRPr lang="en-US" sz="850" dirty="0"/>
          </a:p>
        </p:txBody>
      </p:sp>
      <p:sp>
        <p:nvSpPr>
          <p:cNvPr id="59" name="takeaway"/>
          <p:cNvSpPr/>
          <p:nvPr/>
        </p:nvSpPr>
        <p:spPr>
          <a:xfrm>
            <a:off x="457200" y="8595360"/>
            <a:ext cx="6647688" cy="868680"/>
          </a:xfrm>
          <a:prstGeom prst="roundRect">
            <a:avLst>
              <a:gd name="adj" fmla="val 8421"/>
            </a:avLst>
          </a:prstGeom>
          <a:solidFill>
            <a:schemeClr val="tx1">
              <a:alpha val="94000"/>
            </a:schemeClr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40080" y="8595360"/>
            <a:ext cx="6281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핵심  </a:t>
            </a:r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룩셈 IE의 세액은 ‘규모’가 아니라 ‘펀드 과세형태·소득 구성·선택권’이 결정합니다. 연 1회 별도 ETR 계산은 한국 UPE가 GIR 작성 시 함께 수행하고, 현지는 결과에 따라 신고·납부만 대행하는 구조가 효율적입니다.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47688" y="102229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47472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06  신고 일정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40080"/>
            <a:ext cx="6647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일정 — FY2024 경과분 점검, FY2025 준비</a:t>
            </a:r>
            <a:endParaRPr lang="en-US" sz="2100" dirty="0"/>
          </a:p>
        </p:txBody>
      </p:sp>
      <p:sp>
        <p:nvSpPr>
          <p:cNvPr id="4" name="timeline-axis"/>
          <p:cNvSpPr/>
          <p:nvPr/>
        </p:nvSpPr>
        <p:spPr>
          <a:xfrm>
            <a:off x="1874520" y="1554480"/>
            <a:ext cx="0" cy="6757416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35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2026.6.30</a:t>
            </a:r>
            <a:endParaRPr lang="en-US" sz="1100" dirty="0"/>
          </a:p>
        </p:txBody>
      </p:sp>
      <p:sp>
        <p:nvSpPr>
          <p:cNvPr id="6" name="chip-경과"/>
          <p:cNvSpPr/>
          <p:nvPr/>
        </p:nvSpPr>
        <p:spPr>
          <a:xfrm>
            <a:off x="868680" y="1746504"/>
            <a:ext cx="777240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465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경과</a:t>
            </a:r>
            <a:endParaRPr lang="en-US" sz="800" dirty="0"/>
          </a:p>
        </p:txBody>
      </p:sp>
      <p:sp>
        <p:nvSpPr>
          <p:cNvPr id="8" name="node-0"/>
          <p:cNvSpPr/>
          <p:nvPr/>
        </p:nvSpPr>
        <p:spPr>
          <a:xfrm>
            <a:off x="1773936" y="1472184"/>
            <a:ext cx="201168" cy="201168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event-0"/>
          <p:cNvSpPr/>
          <p:nvPr/>
        </p:nvSpPr>
        <p:spPr>
          <a:xfrm>
            <a:off x="2148840" y="1417320"/>
            <a:ext cx="4956048" cy="1298448"/>
          </a:xfrm>
          <a:prstGeom prst="roundRect">
            <a:avLst>
              <a:gd name="adj" fmla="val 5634"/>
            </a:avLst>
          </a:prstGeom>
          <a:solidFill>
            <a:schemeClr val="accent6">
              <a:alpha val="9000"/>
            </a:schemeClr>
          </a:solidFill>
          <a:ln/>
        </p:spPr>
      </p:sp>
      <p:sp>
        <p:nvSpPr>
          <p:cNvPr id="10" name="chip-KR"/>
          <p:cNvSpPr/>
          <p:nvPr/>
        </p:nvSpPr>
        <p:spPr>
          <a:xfrm>
            <a:off x="2286000" y="1554480"/>
            <a:ext cx="384048" cy="20116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86000" y="15544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KR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2761488" y="1527048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한국 UPE GIR 중앙제출 (FY2024)</a:t>
            </a:r>
            <a:endParaRPr lang="en-US" sz="900" dirty="0"/>
          </a:p>
        </p:txBody>
      </p:sp>
      <p:sp>
        <p:nvSpPr>
          <p:cNvPr id="13" name="chip-CZ"/>
          <p:cNvSpPr/>
          <p:nvPr/>
        </p:nvSpPr>
        <p:spPr>
          <a:xfrm>
            <a:off x="2286000" y="1828800"/>
            <a:ext cx="384048" cy="20116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286000" y="18288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CZ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2761488" y="1801368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GIR 통지 (FY2024)</a:t>
            </a:r>
            <a:endParaRPr lang="en-US" sz="900" dirty="0"/>
          </a:p>
        </p:txBody>
      </p:sp>
      <p:sp>
        <p:nvSpPr>
          <p:cNvPr id="16" name="chip-LU"/>
          <p:cNvSpPr/>
          <p:nvPr/>
        </p:nvSpPr>
        <p:spPr>
          <a:xfrm>
            <a:off x="2286000" y="2103120"/>
            <a:ext cx="384048" cy="2011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286000" y="21031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LU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2761488" y="2075688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등록 · GIR 통지 · (세액 시) QDMTT 신고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2368296"/>
            <a:ext cx="4681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chemeClr val="tx2"/>
                </a:solidFill>
              </a:rPr>
              <a:t>이행 여부 즉시 확인 — 미이행 시 자진 보완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1181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2026.10.2</a:t>
            </a:r>
            <a:endParaRPr lang="en-US" sz="1100" dirty="0"/>
          </a:p>
        </p:txBody>
      </p:sp>
      <p:sp>
        <p:nvSpPr>
          <p:cNvPr id="21" name="chip-기준일"/>
          <p:cNvSpPr/>
          <p:nvPr/>
        </p:nvSpPr>
        <p:spPr>
          <a:xfrm>
            <a:off x="868680" y="3429000"/>
            <a:ext cx="777240" cy="2194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34290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기준일</a:t>
            </a:r>
            <a:endParaRPr lang="en-US" sz="800" dirty="0"/>
          </a:p>
        </p:txBody>
      </p:sp>
      <p:sp>
        <p:nvSpPr>
          <p:cNvPr id="23" name="node-1"/>
          <p:cNvSpPr/>
          <p:nvPr/>
        </p:nvSpPr>
        <p:spPr>
          <a:xfrm>
            <a:off x="1773936" y="3154680"/>
            <a:ext cx="201168" cy="20116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4" name="event-1"/>
          <p:cNvSpPr/>
          <p:nvPr/>
        </p:nvSpPr>
        <p:spPr>
          <a:xfrm>
            <a:off x="2148840" y="3099816"/>
            <a:ext cx="4956048" cy="502920"/>
          </a:xfrm>
          <a:prstGeom prst="roundRect">
            <a:avLst>
              <a:gd name="adj" fmla="val 14545"/>
            </a:avLst>
          </a:prstGeom>
          <a:solidFill>
            <a:schemeClr val="tx1">
              <a:alpha val="4000"/>
            </a:scheme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286000" y="3099816"/>
            <a:ext cx="4681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현재 시점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005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2026.11.2</a:t>
            </a:r>
            <a:endParaRPr lang="en-US" sz="1100" dirty="0"/>
          </a:p>
        </p:txBody>
      </p:sp>
      <p:sp>
        <p:nvSpPr>
          <p:cNvPr id="27" name="chip-D-31"/>
          <p:cNvSpPr/>
          <p:nvPr/>
        </p:nvSpPr>
        <p:spPr>
          <a:xfrm>
            <a:off x="868680" y="4315968"/>
            <a:ext cx="777240" cy="21945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8680" y="43159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D-31</a:t>
            </a:r>
            <a:endParaRPr lang="en-US" sz="800" dirty="0"/>
          </a:p>
        </p:txBody>
      </p:sp>
      <p:sp>
        <p:nvSpPr>
          <p:cNvPr id="29" name="node-2"/>
          <p:cNvSpPr/>
          <p:nvPr/>
        </p:nvSpPr>
        <p:spPr>
          <a:xfrm>
            <a:off x="1773936" y="4041648"/>
            <a:ext cx="201168" cy="201168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0" name="event-2"/>
          <p:cNvSpPr/>
          <p:nvPr/>
        </p:nvSpPr>
        <p:spPr>
          <a:xfrm>
            <a:off x="2148840" y="3986784"/>
            <a:ext cx="4956048" cy="749808"/>
          </a:xfrm>
          <a:prstGeom prst="roundRect">
            <a:avLst>
              <a:gd name="adj" fmla="val 9756"/>
            </a:avLst>
          </a:prstGeom>
          <a:solidFill>
            <a:schemeClr val="accent5">
              <a:alpha val="9000"/>
            </a:schemeClr>
          </a:solidFill>
          <a:ln/>
        </p:spPr>
      </p:sp>
      <p:sp>
        <p:nvSpPr>
          <p:cNvPr id="31" name="chip-CZ"/>
          <p:cNvSpPr/>
          <p:nvPr/>
        </p:nvSpPr>
        <p:spPr>
          <a:xfrm>
            <a:off x="2286000" y="4123944"/>
            <a:ext cx="384048" cy="20116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286000" y="412394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CZ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2761488" y="4096512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추가세 신고서 2종 (FY2024) — 0원도 제출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2286000" y="4389120"/>
            <a:ext cx="4681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chemeClr val="tx2"/>
                </a:solidFill>
              </a:rPr>
              <a:t>가장 임박한 기한 (10.31 토요일 → 익영업일)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5138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2026.12.31</a:t>
            </a:r>
            <a:endParaRPr lang="en-US" sz="1100" dirty="0"/>
          </a:p>
        </p:txBody>
      </p:sp>
      <p:sp>
        <p:nvSpPr>
          <p:cNvPr id="36" name="chip-관용 종료"/>
          <p:cNvSpPr/>
          <p:nvPr/>
        </p:nvSpPr>
        <p:spPr>
          <a:xfrm>
            <a:off x="868680" y="5449824"/>
            <a:ext cx="777240" cy="2194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68680" y="544982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관용 종료</a:t>
            </a:r>
            <a:endParaRPr lang="en-US" sz="800" dirty="0"/>
          </a:p>
        </p:txBody>
      </p:sp>
      <p:sp>
        <p:nvSpPr>
          <p:cNvPr id="38" name="node-3"/>
          <p:cNvSpPr/>
          <p:nvPr/>
        </p:nvSpPr>
        <p:spPr>
          <a:xfrm>
            <a:off x="1773936" y="5175504"/>
            <a:ext cx="201168" cy="201168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9" name="event-3"/>
          <p:cNvSpPr/>
          <p:nvPr/>
        </p:nvSpPr>
        <p:spPr>
          <a:xfrm>
            <a:off x="2148840" y="5120640"/>
            <a:ext cx="4956048" cy="768096"/>
          </a:xfrm>
          <a:prstGeom prst="roundRect">
            <a:avLst>
              <a:gd name="adj" fmla="val 9524"/>
            </a:avLst>
          </a:prstGeom>
          <a:solidFill>
            <a:schemeClr val="accent4">
              <a:alpha val="9000"/>
            </a:schemeClr>
          </a:solidFill>
          <a:ln/>
        </p:spPr>
      </p:sp>
      <p:sp>
        <p:nvSpPr>
          <p:cNvPr id="40" name="chip-ALL"/>
          <p:cNvSpPr/>
          <p:nvPr/>
        </p:nvSpPr>
        <p:spPr>
          <a:xfrm>
            <a:off x="2286000" y="5257800"/>
            <a:ext cx="384048" cy="2011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286000" y="52578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ALL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2761488" y="5230368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OECD 공동이해 GIR 교환기한 · 룩셈 현지 GIR 관용 종료</a:t>
            </a:r>
            <a:endParaRPr lang="en-US" sz="900" dirty="0"/>
          </a:p>
        </p:txBody>
      </p:sp>
      <p:sp>
        <p:nvSpPr>
          <p:cNvPr id="43" name="chip-LU"/>
          <p:cNvSpPr/>
          <p:nvPr/>
        </p:nvSpPr>
        <p:spPr>
          <a:xfrm>
            <a:off x="2286000" y="5532120"/>
            <a:ext cx="384048" cy="2011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286000" y="55321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LU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2761488" y="5504688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일반 CbCR 통지 (FY2026, 매년 말일)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291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2027.3.31</a:t>
            </a:r>
            <a:endParaRPr lang="en-US" sz="1100" dirty="0"/>
          </a:p>
        </p:txBody>
      </p:sp>
      <p:sp>
        <p:nvSpPr>
          <p:cNvPr id="47" name="chip-FY2025"/>
          <p:cNvSpPr/>
          <p:nvPr/>
        </p:nvSpPr>
        <p:spPr>
          <a:xfrm>
            <a:off x="868680" y="6601968"/>
            <a:ext cx="777240" cy="2194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68680" y="66019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FY2025</a:t>
            </a:r>
            <a:endParaRPr lang="en-US" sz="800" dirty="0"/>
          </a:p>
        </p:txBody>
      </p:sp>
      <p:sp>
        <p:nvSpPr>
          <p:cNvPr id="49" name="node-4"/>
          <p:cNvSpPr/>
          <p:nvPr/>
        </p:nvSpPr>
        <p:spPr>
          <a:xfrm>
            <a:off x="1773936" y="6327648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0" name="event-4"/>
          <p:cNvSpPr/>
          <p:nvPr/>
        </p:nvSpPr>
        <p:spPr>
          <a:xfrm>
            <a:off x="2148840" y="6272784"/>
            <a:ext cx="4956048" cy="1042416"/>
          </a:xfrm>
          <a:prstGeom prst="roundRect">
            <a:avLst>
              <a:gd name="adj" fmla="val 7018"/>
            </a:avLst>
          </a:prstGeom>
          <a:solidFill>
            <a:schemeClr val="accent2">
              <a:alpha val="9000"/>
            </a:schemeClr>
          </a:solidFill>
          <a:ln/>
        </p:spPr>
      </p:sp>
      <p:sp>
        <p:nvSpPr>
          <p:cNvPr id="51" name="chip-KR"/>
          <p:cNvSpPr/>
          <p:nvPr/>
        </p:nvSpPr>
        <p:spPr>
          <a:xfrm>
            <a:off x="2286000" y="6409944"/>
            <a:ext cx="384048" cy="20116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2286000" y="640994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KR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2761488" y="6382512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한국 UPE GIR 중앙제출 (15개월)</a:t>
            </a:r>
            <a:endParaRPr lang="en-US" sz="900" dirty="0"/>
          </a:p>
        </p:txBody>
      </p:sp>
      <p:sp>
        <p:nvSpPr>
          <p:cNvPr id="54" name="chip-CZ"/>
          <p:cNvSpPr/>
          <p:nvPr/>
        </p:nvSpPr>
        <p:spPr>
          <a:xfrm>
            <a:off x="2286000" y="6684264"/>
            <a:ext cx="384048" cy="20116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2286000" y="66842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CZ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2761488" y="6656832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GIR 통지</a:t>
            </a:r>
            <a:endParaRPr lang="en-US" sz="900" dirty="0"/>
          </a:p>
        </p:txBody>
      </p:sp>
      <p:sp>
        <p:nvSpPr>
          <p:cNvPr id="57" name="chip-LU"/>
          <p:cNvSpPr/>
          <p:nvPr/>
        </p:nvSpPr>
        <p:spPr>
          <a:xfrm>
            <a:off x="2286000" y="6958584"/>
            <a:ext cx="384048" cy="2011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2286000" y="695858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LU</a:t>
            </a:r>
            <a:endParaRPr lang="en-US" sz="750" dirty="0"/>
          </a:p>
        </p:txBody>
      </p:sp>
      <p:sp>
        <p:nvSpPr>
          <p:cNvPr id="59" name="Text 57"/>
          <p:cNvSpPr txBox="1"/>
          <p:nvPr/>
        </p:nvSpPr>
        <p:spPr>
          <a:xfrm>
            <a:off x="2761488" y="6931152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GIR 통지 · (세액 시) QDMTT 신고, 1개월 내 납부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77175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2027.11.1</a:t>
            </a:r>
            <a:endParaRPr lang="en-US" sz="1100" dirty="0"/>
          </a:p>
        </p:txBody>
      </p:sp>
      <p:sp>
        <p:nvSpPr>
          <p:cNvPr id="61" name="chip-FY2025"/>
          <p:cNvSpPr/>
          <p:nvPr/>
        </p:nvSpPr>
        <p:spPr>
          <a:xfrm>
            <a:off x="868680" y="8028432"/>
            <a:ext cx="777240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868680" y="80284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FY2025</a:t>
            </a:r>
            <a:endParaRPr lang="en-US" sz="800" dirty="0"/>
          </a:p>
        </p:txBody>
      </p:sp>
      <p:sp>
        <p:nvSpPr>
          <p:cNvPr id="63" name="node-5"/>
          <p:cNvSpPr/>
          <p:nvPr/>
        </p:nvSpPr>
        <p:spPr>
          <a:xfrm>
            <a:off x="1773936" y="7754112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64" name="event-5"/>
          <p:cNvSpPr/>
          <p:nvPr/>
        </p:nvSpPr>
        <p:spPr>
          <a:xfrm>
            <a:off x="2148840" y="7699248"/>
            <a:ext cx="4956048" cy="749808"/>
          </a:xfrm>
          <a:prstGeom prst="roundRect">
            <a:avLst>
              <a:gd name="adj" fmla="val 9756"/>
            </a:avLst>
          </a:prstGeom>
          <a:solidFill>
            <a:schemeClr val="accent1">
              <a:alpha val="9000"/>
            </a:schemeClr>
          </a:solidFill>
          <a:ln/>
        </p:spPr>
      </p:sp>
      <p:sp>
        <p:nvSpPr>
          <p:cNvPr id="65" name="chip-CZ"/>
          <p:cNvSpPr/>
          <p:nvPr/>
        </p:nvSpPr>
        <p:spPr>
          <a:xfrm>
            <a:off x="2286000" y="7836408"/>
            <a:ext cx="384048" cy="20116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2286000" y="78364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bg1"/>
                </a:solidFill>
              </a:rPr>
              <a:t>CZ</a:t>
            </a:r>
            <a:endParaRPr lang="en-US" sz="750" dirty="0"/>
          </a:p>
        </p:txBody>
      </p:sp>
      <p:sp>
        <p:nvSpPr>
          <p:cNvPr id="67" name="Text 65"/>
          <p:cNvSpPr txBox="1"/>
          <p:nvPr/>
        </p:nvSpPr>
        <p:spPr>
          <a:xfrm>
            <a:off x="2761488" y="7808976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추가세 신고서 2종 (22개월)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2286000" y="8101584"/>
            <a:ext cx="4681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chemeClr val="tx2"/>
                </a:solidFill>
              </a:rPr>
              <a:t>10.31 일요일 → 익영업일</a:t>
            </a:r>
            <a:endParaRPr lang="en-US" sz="800" dirty="0"/>
          </a:p>
        </p:txBody>
      </p:sp>
      <p:sp>
        <p:nvSpPr>
          <p:cNvPr id="69" name="recurring"/>
          <p:cNvSpPr/>
          <p:nvPr/>
        </p:nvSpPr>
        <p:spPr>
          <a:xfrm>
            <a:off x="457200" y="8878824"/>
            <a:ext cx="6647688" cy="685800"/>
          </a:xfrm>
          <a:prstGeom prst="roundRect">
            <a:avLst>
              <a:gd name="adj" fmla="val 10667"/>
            </a:avLst>
          </a:prstGeom>
          <a:solidFill>
            <a:schemeClr val="tx1">
              <a:alpha val="6000"/>
            </a:schemeClr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640080" y="8878824"/>
            <a:ext cx="6281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매년 반복  </a:t>
            </a:r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CZ: 통지(종료 후 15개월) · 신고서 2종(22개월)   |   LU: 통지(15개월) · 세액 시 QDMTT 신고(15개월)·납부(+1개월) · CbCR 통지(말일)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47688" y="102229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47472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07  신고 주체 운영 방안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40080"/>
            <a:ext cx="6647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‘할 사람이 없는’ 펀드 — 누가, 어떻게 신고하나</a:t>
            </a:r>
            <a:endParaRPr lang="en-US" sz="2100" dirty="0"/>
          </a:p>
        </p:txBody>
      </p:sp>
      <p:sp>
        <p:nvSpPr>
          <p:cNvPr id="4" name="role-0"/>
          <p:cNvSpPr/>
          <p:nvPr/>
        </p:nvSpPr>
        <p:spPr>
          <a:xfrm>
            <a:off x="457200" y="1371600"/>
            <a:ext cx="2093976" cy="2331720"/>
          </a:xfrm>
          <a:prstGeom prst="roundRect">
            <a:avLst>
              <a:gd name="adj" fmla="val 3493"/>
            </a:avLst>
          </a:prstGeom>
          <a:solidFill>
            <a:schemeClr val="tx1">
              <a:alpha val="9000"/>
            </a:schemeClr>
          </a:solidFill>
          <a:ln/>
        </p:spPr>
      </p:sp>
      <p:sp>
        <p:nvSpPr>
          <p:cNvPr id="5" name="role-head-0"/>
          <p:cNvSpPr/>
          <p:nvPr/>
        </p:nvSpPr>
        <p:spPr>
          <a:xfrm>
            <a:off x="457200" y="1371600"/>
            <a:ext cx="2093976" cy="438912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37160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한국 UPE (본사 세무팀)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901952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GIR 중앙제출(국세청) — 양국 GIR 면제의 전제</a:t>
            </a:r>
            <a:endParaRPr lang="en-US" sz="8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현지 통지용 정보 패키지 배포: UPE 명칭·TIN·소재국·그룹명·사업연도·제출일</a:t>
            </a:r>
            <a:endParaRPr lang="en-US" sz="8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de minimis·TCSH 선택은 GIR에서 행사</a:t>
            </a:r>
            <a:endParaRPr lang="en-US" sz="8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룩셈 IE 별도 ETR 계산, 체코 0원 신고서 데이터 제공</a:t>
            </a:r>
            <a:endParaRPr lang="en-US" sz="850" dirty="0"/>
          </a:p>
        </p:txBody>
      </p:sp>
      <p:sp>
        <p:nvSpPr>
          <p:cNvPr id="8" name="role-1"/>
          <p:cNvSpPr/>
          <p:nvPr/>
        </p:nvSpPr>
        <p:spPr>
          <a:xfrm>
            <a:off x="2734056" y="1371600"/>
            <a:ext cx="2093976" cy="2331720"/>
          </a:xfrm>
          <a:prstGeom prst="roundRect">
            <a:avLst>
              <a:gd name="adj" fmla="val 3493"/>
            </a:avLst>
          </a:prstGeom>
          <a:solidFill>
            <a:schemeClr val="accent1">
              <a:alpha val="9000"/>
            </a:schemeClr>
          </a:solidFill>
          <a:ln/>
        </p:spPr>
      </p:sp>
      <p:sp>
        <p:nvSpPr>
          <p:cNvPr id="9" name="role-head-1"/>
          <p:cNvSpPr/>
          <p:nvPr/>
        </p:nvSpPr>
        <p:spPr>
          <a:xfrm>
            <a:off x="2734056" y="1371600"/>
            <a:ext cx="2093976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43784" y="137160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체코 펀드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843784" y="1901952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법적 의무자: 체코 구성기업(펀드) 자신 — 신고는 납세자별 개별</a:t>
            </a:r>
            <a:endParaRPr lang="en-US" sz="8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세무대리인(daňový poradce)에 위임장으로 전자제출(MOJE daně·데이터박스)</a:t>
            </a:r>
            <a:endParaRPr lang="en-US" sz="8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법인격 없는 펀드는 운용·관리회사가 회계 의무 이행(회계법 §4a) → 같은 주체 활용</a:t>
            </a:r>
            <a:endParaRPr lang="en-US" sz="8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그룹 내 다른 납세자도 대리 가능(§126)</a:t>
            </a:r>
            <a:endParaRPr lang="en-US" sz="850" dirty="0"/>
          </a:p>
        </p:txBody>
      </p:sp>
      <p:sp>
        <p:nvSpPr>
          <p:cNvPr id="12" name="role-2"/>
          <p:cNvSpPr/>
          <p:nvPr/>
        </p:nvSpPr>
        <p:spPr>
          <a:xfrm>
            <a:off x="5010912" y="1371600"/>
            <a:ext cx="2093976" cy="2331720"/>
          </a:xfrm>
          <a:prstGeom prst="roundRect">
            <a:avLst>
              <a:gd name="adj" fmla="val 3493"/>
            </a:avLst>
          </a:prstGeom>
          <a:solidFill>
            <a:schemeClr val="accent2">
              <a:alpha val="9000"/>
            </a:schemeClr>
          </a:solidFill>
          <a:ln/>
        </p:spPr>
      </p:sp>
      <p:sp>
        <p:nvSpPr>
          <p:cNvPr id="13" name="role-head-2"/>
          <p:cNvSpPr/>
          <p:nvPr/>
        </p:nvSpPr>
        <p:spPr>
          <a:xfrm>
            <a:off x="5010912" y="1371600"/>
            <a:ext cx="2093976" cy="438912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20640" y="137160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룩셈 펀드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1901952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법적 의무자: 룩셈 CE(펀드, 구획별) — 등록·통지</a:t>
            </a:r>
            <a:endParaRPr lang="en-US" sz="8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AIFM·관리회사, 중앙관리기관(Central Administration), 도미실리에이션 에이전트 또는 세무대리인이 MyGuichet(LuxTrust)로 위임 제출</a:t>
            </a:r>
            <a:endParaRPr lang="en-US" sz="8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운용·관리 계약에 Pillar 2 컴플라이언스 포함 여부 확인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977640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연간 최소 업무 체크리스트</a:t>
            </a:r>
            <a:endParaRPr lang="en-US" sz="1050" dirty="0"/>
          </a:p>
        </p:txBody>
      </p:sp>
      <p:graphicFrame>
        <p:nvGraphicFramePr>
          <p:cNvPr id="9" name="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25112"/>
          <a:ext cx="6647688" cy="914400"/>
        </p:xfrm>
        <a:graphic>
          <a:graphicData uri="http://schemas.openxmlformats.org/drawingml/2006/table">
            <a:tbl>
              <a:tblPr/>
              <a:tblGrid>
                <a:gridCol w="3721608"/>
                <a:gridCol w="1463040"/>
                <a:gridCol w="146304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업무</a:t>
                      </a:r>
                      <a:endParaRPr lang="en-US" sz="9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기한</a:t>
                      </a:r>
                      <a:endParaRPr lang="en-US" sz="9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수행 주체</a:t>
                      </a:r>
                      <a:endParaRPr lang="en-US" sz="9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2004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체코</a:t>
                      </a:r>
                      <a:endParaRPr lang="en-US" sz="9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☐  GIR 통지 (Oznámení) — 체코 추가세·배분 추가세</a:t>
                      </a:r>
                      <a:endParaRPr lang="en-US" sz="85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종료 후 15개월</a:t>
                      </a:r>
                      <a:endParaRPr lang="en-US" sz="85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현지 세무대리인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☐  체코 추가세 신고서 (0원 포함)</a:t>
                      </a:r>
                      <a:endParaRPr lang="en-US" sz="85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종료 후 22개월</a:t>
                      </a:r>
                      <a:endParaRPr lang="en-US" sz="85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현지 세무대리인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☐  배분 추가세 신고서 (0원 포함)</a:t>
                      </a:r>
                      <a:endParaRPr lang="en-US" sz="85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종료 후 22개월</a:t>
                      </a:r>
                      <a:endParaRPr lang="en-US" sz="85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현지 세무대리인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☐  de minimis·TCSH 선택, 이익 EUR 1m 미만 확인</a:t>
                      </a:r>
                      <a:endParaRPr lang="en-US" sz="85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GIR 제출 시</a:t>
                      </a:r>
                      <a:endParaRPr lang="en-US" sz="85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한국 UPE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룩셈부르크</a:t>
                      </a:r>
                      <a:endParaRPr lang="en-US" sz="9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☐  등록정보 변경 신고 (해당 시)</a:t>
                      </a:r>
                      <a:endParaRPr lang="en-US" sz="85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변경 FY 종료 후 15개월</a:t>
                      </a:r>
                      <a:endParaRPr lang="en-US" sz="85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Administrator / 세무대리인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☐  GIR 통지 (MyGuichet)</a:t>
                      </a:r>
                      <a:endParaRPr lang="en-US" sz="85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종료 후 15개월</a:t>
                      </a:r>
                      <a:endParaRPr lang="en-US" sz="85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Administrator / 세무대리인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☐  IE 별도 ETR 계산 → QDMTT 신고·납부 (세액 시)</a:t>
                      </a:r>
                      <a:endParaRPr lang="en-US" sz="85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15개월 / +1개월</a:t>
                      </a:r>
                      <a:endParaRPr lang="en-US" sz="85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한국 UPE + 현지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☐  일반 CbCR 통지</a:t>
                      </a:r>
                      <a:endParaRPr lang="en-US" sz="85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매 사업연도 말일</a:t>
                      </a:r>
                      <a:endParaRPr lang="en-US" sz="85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Administrator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ip"/>
          <p:cNvSpPr/>
          <p:nvPr/>
        </p:nvSpPr>
        <p:spPr>
          <a:xfrm>
            <a:off x="457200" y="8092440"/>
            <a:ext cx="6647688" cy="1005840"/>
          </a:xfrm>
          <a:prstGeom prst="roundRect">
            <a:avLst>
              <a:gd name="adj" fmla="val 7273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8092440"/>
            <a:ext cx="6281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비용 효율 팁  </a:t>
            </a:r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두 펀드를 같은 회계법인·로펌 네트워크에 ‘Pillar 2 local compliance 패키지’로 일괄 위임하고 한국 GIR 데이터를 재사용. 장기적으로는 펀드 존치 필요성과 연간 컴플라이언스 비용(신고·통지·대리인 보수·과태료 리스크)을 비교해 정리 여부도 검토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47688" y="102229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47472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부록 A  근거 규정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40080"/>
            <a:ext cx="6647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근거 규정 요약</a:t>
            </a:r>
            <a:endParaRPr lang="en-US" sz="2100" dirty="0"/>
          </a:p>
        </p:txBody>
      </p:sp>
      <p:graphicFrame>
        <p:nvGraphicFramePr>
          <p:cNvPr id="10" name="legal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6647688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230368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조문</a:t>
                      </a:r>
                      <a:endParaRPr lang="en-US" sz="9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핵심 내용</a:t>
                      </a:r>
                      <a:endParaRPr lang="en-US" sz="9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01752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체코 — Act No. 416/2023 Coll. (추가세법) · Act No. 563/1991 Coll. (회계법)</a:t>
                      </a:r>
                      <a:endParaRPr lang="en-US" sz="85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§91(1)·(3)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de minimis 선택: 3년 평균 매출 &lt; EUR 10m·이익 &lt; EUR 1m → 추가세 0. IE·무국적기업에는 적용하지 않고 계산에서도 제외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§92d · §92f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TCSH: FY 개시 ≤ 2026.12.31·종료 ≤ 2028.6.30. 소규모 테스트 = CbCR 매출 &lt; EUR 10m 및 세전이익 &lt; EUR 1m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§92k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IE에는 TCSH 미적용(별도 ETR) — 소유자 전원이 동일국이고 선택 미행사 시에만 예외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§117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체코 추가세 납세의무자 = 체코 구성기업(저세율 여부와 무관하게 그룹 소속이면 해당)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§128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추가세 서식 제출은 전자(재무행정 포털·데이터박스)만 유효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§129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정보신고: 종료 후 15개월(최초 18개월), 저세율 기업 유무와 무관, 연장·원상회복 불가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§130 · §131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UPE·지정제출기업이 교환협정국에 제출 시 이행 간주 + 같은 기한 내 제출기업 정보 통지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§132 · §135(2)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추가세 신고서 22개월(연장 불가) / 미신고 시 0원 간주, 지연가산세 미적용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§140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추가세 관련 비금전 의무 위반 과태료 최대 CZK 1,500,000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회계법 §1b · §32o(2) · §32q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규모 구분(소규모: 자산 1.2억·매출 2.4억 CZK·50명) / PCbCR은 비EU 모회사 산하 중·대규모 상사회사 / 12개월 내 공시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룩셈부르크 — Loi modifiée du 22 décembre 2023 (최저실효세법) 등</a:t>
                      </a:r>
                      <a:endParaRPr lang="en-US" sz="85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Art.30(5)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de minimis는 무국적기업·IE에 적용하지 않으며, 그 매출·이익은 계산에서도 제외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Art.41 – 43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IE 별도 ETR·추가세 / 투명기업 간주 선택(공정가치 과세 ≥ 15%) / 과세분배방식 선택(분배금 과세 ≥ 15%)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Art.44 · 47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저세율 룩셈 CE에 QDMTT 부과(IE 규정 준용), 지정기업 또는 각 CE에 배분, 연대책임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Art.49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등록: 종료 후 15개월(전환연도 18개월), 변경 신고 15개월, 과태료 EUR 5,000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Art.50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GIR·통지 15개월, UPE/지정제출기업 해외제출 시 면제, 과태료 EUR 5,000 / 250,000 / 300,000, 교환 미수신 시 1개월 내 현지 제출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Art.51 · 56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배분받은 CE·지정기업이 15개월 내 신고, 1개월 내 납부 / 전환연도 18개월, 2026.6.30 이전 기한 없음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Art.59(7)·(8)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TCSH: IE는 Art.41–43 적용, 소유자 전원이 룩셈 소재 + 선택 미행사 시에만 예외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PCbCR법 · GDR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2023.8.15 법: 비EU UPE 산하 중·대규모 자회사 공시 / 2024.10.25 대공국 규칙: 소규모 자산 EUR 7.5m·매출 15m·50명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OECD</a:t>
                      </a:r>
                      <a:endParaRPr lang="en-US" sz="85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중앙제출 공동이해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2026.5.18(개정 2026.7.6): 한국·체코·룩셈 등 33개국 — 중앙제출 + 현지 통지 시 가산세 면제·집행 유예, 교환기한 2026.12.31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GIR MCAA 서명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2026.10.1 기준: 한국 2025.7.9 · 룩셈 2025.6.26 · 체코 2026.5.11 (서명 ≠ 교환관계 활성화)</a:t>
                      </a:r>
                      <a:endParaRPr lang="en-US" sz="8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47688" y="102229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47472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부록 B  유의사항 · 참고자료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40080"/>
            <a:ext cx="6647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유의사항 및 참고자료</a:t>
            </a:r>
            <a:endParaRPr lang="en-US" sz="2100" dirty="0"/>
          </a:p>
        </p:txBody>
      </p:sp>
      <p:sp>
        <p:nvSpPr>
          <p:cNvPr id="4" name="marker-1"/>
          <p:cNvSpPr/>
          <p:nvPr/>
        </p:nvSpPr>
        <p:spPr>
          <a:xfrm>
            <a:off x="457200" y="1389888"/>
            <a:ext cx="292608" cy="29260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marker-num-1"/>
          <p:cNvSpPr txBox="1"/>
          <p:nvPr/>
        </p:nvSpPr>
        <p:spPr>
          <a:xfrm>
            <a:off x="45720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3898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검토 범위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1444752"/>
            <a:ext cx="5001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chemeClr val="tx2"/>
                </a:solidFill>
              </a:rPr>
              <a:t>2026.10.2 기준 공개 법령·당국 안내·OECD 문서에 근거한 1차 검토입니다. 실제 신고 전 현지 세무대리인 확인이 필요합니다.</a:t>
            </a:r>
            <a:endParaRPr lang="en-US" sz="880" dirty="0"/>
          </a:p>
        </p:txBody>
      </p:sp>
      <p:sp>
        <p:nvSpPr>
          <p:cNvPr id="8" name="marker-2"/>
          <p:cNvSpPr/>
          <p:nvPr/>
        </p:nvSpPr>
        <p:spPr>
          <a:xfrm>
            <a:off x="457200" y="2048256"/>
            <a:ext cx="292608" cy="29260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9" name="marker-num-2"/>
          <p:cNvSpPr txBox="1"/>
          <p:nvPr/>
        </p:nvSpPr>
        <p:spPr>
          <a:xfrm>
            <a:off x="457200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0482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전제 민감도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103120"/>
            <a:ext cx="5001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chemeClr val="tx2"/>
                </a:solidFill>
              </a:rPr>
              <a:t>각국 그룹 CE 1개, 역년 사업연도, 환율 가정 기준입니다. 이익 규모와 펀드 법적형태(과세 여부)에 따라 세액 결론이 달라질 수 있습니다.</a:t>
            </a:r>
            <a:endParaRPr lang="en-US" sz="880" dirty="0"/>
          </a:p>
        </p:txBody>
      </p:sp>
      <p:sp>
        <p:nvSpPr>
          <p:cNvPr id="12" name="marker-3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3" name="marker-num-3"/>
          <p:cNvSpPr txBox="1"/>
          <p:nvPr/>
        </p:nvSpPr>
        <p:spPr>
          <a:xfrm>
            <a:off x="45720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7066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IE 판정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2761488"/>
            <a:ext cx="5001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chemeClr val="tx2"/>
                </a:solidFill>
              </a:rPr>
              <a:t>체코 펀드가 일반구성기업, 룩셈 펀드가 IE라는 구분은 제공 정보 기준입니다. GloBE 10.1 Investment Fund 정의 충족 여부를 재확인하길 권합니다.</a:t>
            </a:r>
            <a:endParaRPr lang="en-US" sz="880" dirty="0"/>
          </a:p>
        </p:txBody>
      </p:sp>
      <p:sp>
        <p:nvSpPr>
          <p:cNvPr id="16" name="marker-4"/>
          <p:cNvSpPr/>
          <p:nvPr/>
        </p:nvSpPr>
        <p:spPr>
          <a:xfrm>
            <a:off x="457200" y="3364992"/>
            <a:ext cx="292608" cy="29260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7" name="marker-num-4"/>
          <p:cNvSpPr txBox="1"/>
          <p:nvPr/>
        </p:nvSpPr>
        <p:spPr>
          <a:xfrm>
            <a:off x="45720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3649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경과 기한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3419856"/>
            <a:ext cx="5001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chemeClr val="tx2"/>
                </a:solidFill>
              </a:rPr>
              <a:t>FY2024 기한(2026.6.30)이 지난 체코 통지, 룩셈 등록·통지의 이행 여부를 즉시 확인하고 미이행분은 자진 보완하십시오.</a:t>
            </a:r>
            <a:endParaRPr lang="en-US" sz="880" dirty="0"/>
          </a:p>
        </p:txBody>
      </p:sp>
      <p:sp>
        <p:nvSpPr>
          <p:cNvPr id="20" name="marker-5"/>
          <p:cNvSpPr/>
          <p:nvPr/>
        </p:nvSpPr>
        <p:spPr>
          <a:xfrm>
            <a:off x="457200" y="4023360"/>
            <a:ext cx="292608" cy="29260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1" name="marker-num-5"/>
          <p:cNvSpPr txBox="1"/>
          <p:nvPr/>
        </p:nvSpPr>
        <p:spPr>
          <a:xfrm>
            <a:off x="45720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023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교환관계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4078224"/>
            <a:ext cx="5001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chemeClr val="tx2"/>
                </a:solidFill>
              </a:rPr>
              <a:t>한–체코, 한–룩셈 GIR 교환관계 활성화 여부를 2026.12.31 전에 확인하십시오. 미활성이면 현지 GIR 제출이 요구될 수 있습니다(CZ §130, LU Art.50(11)).</a:t>
            </a:r>
            <a:endParaRPr lang="en-US" sz="880" dirty="0"/>
          </a:p>
        </p:txBody>
      </p:sp>
      <p:sp>
        <p:nvSpPr>
          <p:cNvPr id="24" name="marker-6"/>
          <p:cNvSpPr/>
          <p:nvPr/>
        </p:nvSpPr>
        <p:spPr>
          <a:xfrm>
            <a:off x="457200" y="4681728"/>
            <a:ext cx="292608" cy="29260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5" name="marker-num-6"/>
          <p:cNvSpPr txBox="1"/>
          <p:nvPr/>
        </p:nvSpPr>
        <p:spPr>
          <a:xfrm>
            <a:off x="45720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6817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후속 입법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4736592"/>
            <a:ext cx="5001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chemeClr val="tx2"/>
                </a:solidFill>
              </a:rPr>
              <a:t>룩셈 개정안 8795, 한국 국내 QDMTT(2026~) 등은 본 검토 범위 밖으로 모니터링이 필요합니다.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5458968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참고자료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5779008"/>
            <a:ext cx="6647688" cy="423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00" u="sng" dirty="0">
                <a:solidFill>
                  <a:schemeClr val="accent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Zákon č. 416/2023 Sb. o dorovnávacích daních — 현행본(2025.9.3)</a:t>
            </a:r>
            <a:endParaRPr lang="en-US" sz="8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00" u="sng" dirty="0">
                <a:solidFill>
                  <a:schemeClr val="accent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Zákon č. 563/1991 Sb. o účetnictví — 현행본(2026.1.1)</a:t>
            </a:r>
            <a:endParaRPr lang="en-US" sz="8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00" u="sng" dirty="0">
                <a:solidFill>
                  <a:schemeClr val="accent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Finanční správa — Dorovnávací daně: Obecné informace</a:t>
            </a:r>
            <a:endParaRPr lang="en-US" sz="8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00" u="sng" dirty="0">
                <a:solidFill>
                  <a:schemeClr val="accent2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danovky.cz — Top-up tax: notification instead of simplified information return</a:t>
            </a:r>
            <a:endParaRPr lang="en-US" sz="8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00" u="sng" dirty="0">
                <a:solidFill>
                  <a:schemeClr val="accent2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Chambre des Députés — Projet de loi n° 8795 (2026.7.17, 조문대비 현행본 포함)</a:t>
            </a:r>
            <a:endParaRPr lang="en-US" sz="8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00" u="sng" dirty="0">
                <a:solidFill>
                  <a:schemeClr val="accent2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Loyens &amp; Loeff — Luxembourg Pillar Two FAQ updated (2026.6)</a:t>
            </a:r>
            <a:endParaRPr lang="en-US" sz="8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00" u="sng" dirty="0">
                <a:solidFill>
                  <a:schemeClr val="accent2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KPMG Luxembourg — Updated Pillar Two FAQ clarifies compliance obligations</a:t>
            </a:r>
            <a:endParaRPr lang="en-US" sz="8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00" u="sng" dirty="0">
                <a:solidFill>
                  <a:schemeClr val="accent2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EY — Luxembourg launches Pillar Two registration and return filing (2026.1)</a:t>
            </a:r>
            <a:endParaRPr lang="en-US" sz="8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00" u="sng" dirty="0">
                <a:solidFill>
                  <a:schemeClr val="accent2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OECD — Support for Central GIR Filing and Exchange (2024 RFY)</a:t>
            </a:r>
            <a:endParaRPr lang="en-US" sz="8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00" u="sng" dirty="0">
                <a:solidFill>
                  <a:schemeClr val="accent2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OECD — GIR MCAA Signatories (status as of 2026.10.1)</a:t>
            </a:r>
            <a:endParaRPr lang="en-US" sz="8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00" u="sng" dirty="0">
                <a:solidFill>
                  <a:schemeClr val="accent2"/>
                </a:solidFill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Arendt — Public CbCR Luxembourg (Law of 15 Aug 2023)</a:t>
            </a:r>
            <a:endParaRPr lang="en-US" sz="8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00" u="sng" dirty="0">
                <a:solidFill>
                  <a:schemeClr val="accent2"/>
                </a:solidFill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Baker McKenzie — New accounting thresholds in Luxembourg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47688" y="102229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llar2 CZ-LU">
  <a:themeElements>
    <a:clrScheme name="Pillar2 CZ-LU">
      <a:dk1>
        <a:srgbClr val="16202C"/>
      </a:dk1>
      <a:lt1>
        <a:srgbClr val="FFFFFF"/>
      </a:lt1>
      <a:dk2>
        <a:srgbClr val="3A4A5C"/>
      </a:dk2>
      <a:lt2>
        <a:srgbClr val="EEF2F6"/>
      </a:lt2>
      <a:accent1>
        <a:srgbClr val="1D3C78"/>
      </a:accent1>
      <a:accent2>
        <a:srgbClr val="0A85A8"/>
      </a:accent2>
      <a:accent3>
        <a:srgbClr val="1E8E5A"/>
      </a:accent3>
      <a:accent4>
        <a:srgbClr val="C98204"/>
      </a:accent4>
      <a:accent5>
        <a:srgbClr val="C0392B"/>
      </a:accent5>
      <a:accent6>
        <a:srgbClr val="6B7A8C"/>
      </a:accent6>
      <a:hlink>
        <a:srgbClr val="0A85A8"/>
      </a:hlink>
      <a:folHlink>
        <a:srgbClr val="1D3C78"/>
      </a:folHlink>
    </a:clrScheme>
    <a:fontScheme name="Pillar2 CZ-LU">
      <a:majorFont>
        <a:latin typeface="Malgun Gothic"/>
        <a:ea typeface="Malgun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Malgun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글로벌최저한세 현지의무 검토 — 체코·룩셈부르크</dc:title>
  <dc:subject>Pillar 2 DMTT / GIR / GIR Notification / Public CbCR</dc:subject>
  <dc:creator>Tax</dc:creator>
  <cp:lastModifiedBy>Tax</cp:lastModifiedBy>
  <cp:revision>1</cp:revision>
  <dcterms:created xsi:type="dcterms:W3CDTF">2026-10-02T07:01:00Z</dcterms:created>
  <dcterms:modified xsi:type="dcterms:W3CDTF">2026-10-02T07:01:00Z</dcterms:modified>
</cp:coreProperties>
</file>