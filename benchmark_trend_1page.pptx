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정책금리</c:v>
                </c:pt>
              </c:strCache>
            </c:strRef>
          </c:tx>
          <c:spPr>
            <a:solidFill>
              <a:srgbClr val="9A9A9A"/>
            </a:solidFill>
            <a:ln w="25400" cap="flat">
              <a:solidFill>
                <a:srgbClr val="9A9A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9A9A"/>
              </a:solidFill>
              <a:ln w="9525" cap="flat">
                <a:solidFill>
                  <a:srgbClr val="9A9A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-0.1</c:v>
                </c:pt>
                <c:pt idx="1">
                  <c:v>-0.1</c:v>
                </c:pt>
                <c:pt idx="2">
                  <c:v>-0.1</c:v>
                </c:pt>
                <c:pt idx="3">
                  <c:v>-0.1</c:v>
                </c:pt>
                <c:pt idx="4">
                  <c:v>-0.1</c:v>
                </c:pt>
                <c:pt idx="5">
                  <c:v>-0.1</c:v>
                </c:pt>
                <c:pt idx="6">
                  <c:v>-0.1</c:v>
                </c:pt>
                <c:pt idx="7">
                  <c:v>-0.1</c:v>
                </c:pt>
                <c:pt idx="8">
                  <c:v>-0.1</c:v>
                </c:pt>
                <c:pt idx="9">
                  <c:v>-0.1</c:v>
                </c:pt>
                <c:pt idx="10">
                  <c:v>-0.1</c:v>
                </c:pt>
                <c:pt idx="11">
                  <c:v>-0.1</c:v>
                </c:pt>
                <c:pt idx="12">
                  <c:v>0.05</c:v>
                </c:pt>
                <c:pt idx="13">
                  <c:v>0.05</c:v>
                </c:pt>
                <c:pt idx="14">
                  <c:v>0.25</c:v>
                </c:pt>
                <c:pt idx="15">
                  <c:v>0.25</c:v>
                </c:pt>
                <c:pt idx="16">
                  <c:v>0.5</c:v>
                </c:pt>
                <c:pt idx="17">
                  <c:v>0.5</c:v>
                </c:pt>
                <c:pt idx="18">
                  <c:v>0.5</c:v>
                </c:pt>
                <c:pt idx="19">
                  <c:v>0.75</c:v>
                </c:pt>
                <c:pt idx="20">
                  <c:v>0.75</c:v>
                </c:pt>
                <c:pt idx="21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국채 3년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-0.126</c:v>
                </c:pt>
                <c:pt idx="1">
                  <c:v>-0.134</c:v>
                </c:pt>
                <c:pt idx="2">
                  <c:v>-0.132</c:v>
                </c:pt>
                <c:pt idx="3">
                  <c:v>-0.113</c:v>
                </c:pt>
                <c:pt idx="4">
                  <c:v>-0.035</c:v>
                </c:pt>
                <c:pt idx="5">
                  <c:v>-0.043</c:v>
                </c:pt>
                <c:pt idx="6">
                  <c:v>-0.076</c:v>
                </c:pt>
                <c:pt idx="7">
                  <c:v>-0.015</c:v>
                </c:pt>
                <c:pt idx="8">
                  <c:v>0.001</c:v>
                </c:pt>
                <c:pt idx="9">
                  <c:v>-0.042</c:v>
                </c:pt>
                <c:pt idx="10">
                  <c:v>0.033</c:v>
                </c:pt>
                <c:pt idx="11">
                  <c:v>0.119</c:v>
                </c:pt>
                <c:pt idx="12">
                  <c:v>0.128</c:v>
                </c:pt>
                <c:pt idx="13">
                  <c:v>0.343</c:v>
                </c:pt>
                <c:pt idx="14">
                  <c:v>0.381</c:v>
                </c:pt>
                <c:pt idx="15">
                  <c:v>0.527</c:v>
                </c:pt>
                <c:pt idx="16">
                  <c:v>0.823</c:v>
                </c:pt>
                <c:pt idx="17">
                  <c:v>0.763</c:v>
                </c:pt>
                <c:pt idx="18">
                  <c:v>0.903</c:v>
                </c:pt>
                <c:pt idx="19">
                  <c:v>1.076</c:v>
                </c:pt>
                <c:pt idx="20">
                  <c:v>1.381</c:v>
                </c:pt>
                <c:pt idx="21">
                  <c:v>1.558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회사채 R&amp;I AA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0.137</c:v>
                </c:pt>
                <c:pt idx="1">
                  <c:v>0.122</c:v>
                </c:pt>
                <c:pt idx="2">
                  <c:v>0.109</c:v>
                </c:pt>
                <c:pt idx="3">
                  <c:v>0.117</c:v>
                </c:pt>
                <c:pt idx="4">
                  <c:v>0.178</c:v>
                </c:pt>
                <c:pt idx="5">
                  <c:v>0.189</c:v>
                </c:pt>
                <c:pt idx="6">
                  <c:v>0.205</c:v>
                </c:pt>
                <c:pt idx="7">
                  <c:v>0.282</c:v>
                </c:pt>
                <c:pt idx="8">
                  <c:v>0.359</c:v>
                </c:pt>
                <c:pt idx="9">
                  <c:v>0.298</c:v>
                </c:pt>
                <c:pt idx="10">
                  <c:v>0.382</c:v>
                </c:pt>
                <c:pt idx="11">
                  <c:v>0.481</c:v>
                </c:pt>
                <c:pt idx="12">
                  <c:v>0.495</c:v>
                </c:pt>
                <c:pt idx="13">
                  <c:v>0.687</c:v>
                </c:pt>
                <c:pt idx="14">
                  <c:v>0.705</c:v>
                </c:pt>
                <c:pt idx="15">
                  <c:v>0.873</c:v>
                </c:pt>
                <c:pt idx="16">
                  <c:v>1.183</c:v>
                </c:pt>
                <c:pt idx="17">
                  <c:v>1.109</c:v>
                </c:pt>
                <c:pt idx="18">
                  <c:v>1.285</c:v>
                </c:pt>
                <c:pt idx="19">
                  <c:v>1.461</c:v>
                </c:pt>
                <c:pt idx="20">
                  <c:v>1.806</c:v>
                </c:pt>
                <c:pt idx="21">
                  <c:v>1.99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9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"/>
          <c:min val="-0.5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9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solidFill>
          <a:srgbClr val="F6F6F4"/>
        </a:solidFill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정책금리</c:v>
                </c:pt>
              </c:strCache>
            </c:strRef>
          </c:tx>
          <c:spPr>
            <a:solidFill>
              <a:srgbClr val="9A9A9A"/>
            </a:solidFill>
            <a:ln w="25400" cap="flat">
              <a:solidFill>
                <a:srgbClr val="9A9A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9A9A"/>
              </a:solidFill>
              <a:ln w="9525" cap="flat">
                <a:solidFill>
                  <a:srgbClr val="9A9A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3.85</c:v>
                </c:pt>
                <c:pt idx="1">
                  <c:v>3.85</c:v>
                </c:pt>
                <c:pt idx="2">
                  <c:v>3.85</c:v>
                </c:pt>
                <c:pt idx="3">
                  <c:v>3.8</c:v>
                </c:pt>
                <c:pt idx="4">
                  <c:v>3.7</c:v>
                </c:pt>
                <c:pt idx="5">
                  <c:v>3.7</c:v>
                </c:pt>
                <c:pt idx="6">
                  <c:v>3.65</c:v>
                </c:pt>
                <c:pt idx="7">
                  <c:v>3.65</c:v>
                </c:pt>
                <c:pt idx="8">
                  <c:v>3.65</c:v>
                </c:pt>
                <c:pt idx="9">
                  <c:v>3.55</c:v>
                </c:pt>
                <c:pt idx="10">
                  <c:v>3.45</c:v>
                </c:pt>
                <c:pt idx="11">
                  <c:v>3.45</c:v>
                </c:pt>
                <c:pt idx="12">
                  <c:v>3.45</c:v>
                </c:pt>
                <c:pt idx="13">
                  <c:v>3.45</c:v>
                </c:pt>
                <c:pt idx="14">
                  <c:v>3.35</c:v>
                </c:pt>
                <c:pt idx="15">
                  <c:v>3.1</c:v>
                </c:pt>
                <c:pt idx="16">
                  <c:v>3.1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국채 3년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2.871</c:v>
                </c:pt>
                <c:pt idx="1">
                  <c:v>2.789</c:v>
                </c:pt>
                <c:pt idx="2">
                  <c:v>2.592</c:v>
                </c:pt>
                <c:pt idx="3">
                  <c:v>2.609</c:v>
                </c:pt>
                <c:pt idx="4">
                  <c:v>2.346</c:v>
                </c:pt>
                <c:pt idx="5">
                  <c:v>2.381</c:v>
                </c:pt>
                <c:pt idx="6">
                  <c:v>2.303</c:v>
                </c:pt>
                <c:pt idx="7">
                  <c:v>2.382</c:v>
                </c:pt>
                <c:pt idx="8">
                  <c:v>2.527</c:v>
                </c:pt>
                <c:pt idx="9">
                  <c:v>2.368</c:v>
                </c:pt>
                <c:pt idx="10">
                  <c:v>2.273</c:v>
                </c:pt>
                <c:pt idx="11">
                  <c:v>2.433</c:v>
                </c:pt>
                <c:pt idx="12">
                  <c:v>2.181</c:v>
                </c:pt>
                <c:pt idx="13">
                  <c:v>1.95</c:v>
                </c:pt>
                <c:pt idx="14">
                  <c:v>1.679</c:v>
                </c:pt>
                <c:pt idx="15">
                  <c:v>1.457</c:v>
                </c:pt>
                <c:pt idx="16">
                  <c:v>1.419</c:v>
                </c:pt>
                <c:pt idx="17">
                  <c:v>1.469</c:v>
                </c:pt>
                <c:pt idx="18">
                  <c:v>1.461</c:v>
                </c:pt>
                <c:pt idx="19">
                  <c:v>1.448</c:v>
                </c:pt>
                <c:pt idx="20">
                  <c:v>1.389</c:v>
                </c:pt>
                <c:pt idx="21">
                  <c:v>1.302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상업은행채 AAA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3.404</c:v>
                </c:pt>
                <c:pt idx="1">
                  <c:v>3.271</c:v>
                </c:pt>
                <c:pt idx="2">
                  <c:v>2.966</c:v>
                </c:pt>
                <c:pt idx="3">
                  <c:v>2.96</c:v>
                </c:pt>
                <c:pt idx="4">
                  <c:v>2.813</c:v>
                </c:pt>
                <c:pt idx="5">
                  <c:v>2.8</c:v>
                </c:pt>
                <c:pt idx="6">
                  <c:v>2.586</c:v>
                </c:pt>
                <c:pt idx="7">
                  <c:v>2.692</c:v>
                </c:pt>
                <c:pt idx="8">
                  <c:v>2.887</c:v>
                </c:pt>
                <c:pt idx="9">
                  <c:v>2.752</c:v>
                </c:pt>
                <c:pt idx="10">
                  <c:v>2.644</c:v>
                </c:pt>
                <c:pt idx="11">
                  <c:v>2.777</c:v>
                </c:pt>
                <c:pt idx="12">
                  <c:v>2.491</c:v>
                </c:pt>
                <c:pt idx="13">
                  <c:v>2.215</c:v>
                </c:pt>
                <c:pt idx="14">
                  <c:v>2.025</c:v>
                </c:pt>
                <c:pt idx="15">
                  <c:v>1.967</c:v>
                </c:pt>
                <c:pt idx="16">
                  <c:v>1.814</c:v>
                </c:pt>
                <c:pt idx="17">
                  <c:v>1.776</c:v>
                </c:pt>
                <c:pt idx="18">
                  <c:v>1.787</c:v>
                </c:pt>
                <c:pt idx="19">
                  <c:v>1.837</c:v>
                </c:pt>
                <c:pt idx="20">
                  <c:v>1.754</c:v>
                </c:pt>
                <c:pt idx="21">
                  <c:v>1.557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9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9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6F4"/>
        </a:solidFill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정책금리</c:v>
                </c:pt>
              </c:strCache>
            </c:strRef>
          </c:tx>
          <c:spPr>
            <a:solidFill>
              <a:srgbClr val="9A9A9A"/>
            </a:solidFill>
            <a:ln w="25400" cap="flat">
              <a:solidFill>
                <a:srgbClr val="9A9A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9A9A"/>
              </a:solidFill>
              <a:ln w="9525" cap="flat">
                <a:solidFill>
                  <a:srgbClr val="9A9A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6</c:v>
                </c:pt>
                <c:pt idx="8">
                  <c:v>6</c:v>
                </c:pt>
                <c:pt idx="9">
                  <c:v>4.5</c:v>
                </c:pt>
                <c:pt idx="10">
                  <c:v>4.5</c:v>
                </c:pt>
                <c:pt idx="11">
                  <c:v>4.5</c:v>
                </c:pt>
                <c:pt idx="12">
                  <c:v>4.5</c:v>
                </c:pt>
                <c:pt idx="13">
                  <c:v>4.5</c:v>
                </c:pt>
                <c:pt idx="14">
                  <c:v>4.5</c:v>
                </c:pt>
                <c:pt idx="15">
                  <c:v>4.5</c:v>
                </c:pt>
                <c:pt idx="16">
                  <c:v>4.5</c:v>
                </c:pt>
                <c:pt idx="17">
                  <c:v>4.5</c:v>
                </c:pt>
                <c:pt idx="18">
                  <c:v>4.5</c:v>
                </c:pt>
                <c:pt idx="19">
                  <c:v>4.5</c:v>
                </c:pt>
                <c:pt idx="20">
                  <c:v>4.5</c:v>
                </c:pt>
                <c:pt idx="21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국채 3년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0.631</c:v>
                </c:pt>
                <c:pt idx="1">
                  <c:v>0.726</c:v>
                </c:pt>
                <c:pt idx="2">
                  <c:v>0.72</c:v>
                </c:pt>
                <c:pt idx="3">
                  <c:v>0.704</c:v>
                </c:pt>
                <c:pt idx="4">
                  <c:v>1.078</c:v>
                </c:pt>
                <c:pt idx="5">
                  <c:v>2.199</c:v>
                </c:pt>
                <c:pt idx="6">
                  <c:v>3.173</c:v>
                </c:pt>
                <c:pt idx="7">
                  <c:v>4.977</c:v>
                </c:pt>
                <c:pt idx="8">
                  <c:v>4.137</c:v>
                </c:pt>
                <c:pt idx="9">
                  <c:v>2.691</c:v>
                </c:pt>
                <c:pt idx="10">
                  <c:v>1.911</c:v>
                </c:pt>
                <c:pt idx="11">
                  <c:v>1.881</c:v>
                </c:pt>
                <c:pt idx="12">
                  <c:v>1.47</c:v>
                </c:pt>
                <c:pt idx="13">
                  <c:v>1.98</c:v>
                </c:pt>
                <c:pt idx="14">
                  <c:v>2.001</c:v>
                </c:pt>
                <c:pt idx="15">
                  <c:v>1.993</c:v>
                </c:pt>
                <c:pt idx="16">
                  <c:v>2.237</c:v>
                </c:pt>
                <c:pt idx="17">
                  <c:v>2.325</c:v>
                </c:pt>
                <c:pt idx="18">
                  <c:v>2.727</c:v>
                </c:pt>
                <c:pt idx="19">
                  <c:v>3.094</c:v>
                </c:pt>
                <c:pt idx="20">
                  <c:v>3.373</c:v>
                </c:pt>
                <c:pt idx="21">
                  <c:v>3.639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은행채 발행금리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1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/>
                </c:pt>
                <c:pt idx="1">
                  <c:v/>
                </c:pt>
                <c:pt idx="2">
                  <c:v>3.803</c:v>
                </c:pt>
                <c:pt idx="3">
                  <c:v>3.289</c:v>
                </c:pt>
                <c:pt idx="4">
                  <c:v/>
                </c:pt>
                <c:pt idx="5">
                  <c:v>4.334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>7.411</c:v>
                </c:pt>
                <c:pt idx="10">
                  <c:v>6.606</c:v>
                </c:pt>
                <c:pt idx="11">
                  <c:v>5.586</c:v>
                </c:pt>
                <c:pt idx="12">
                  <c:v/>
                </c:pt>
                <c:pt idx="13">
                  <c:v>4.737</c:v>
                </c:pt>
                <c:pt idx="14">
                  <c:v>5.525</c:v>
                </c:pt>
                <c:pt idx="15">
                  <c:v>5.404</c:v>
                </c:pt>
                <c:pt idx="16">
                  <c:v/>
                </c:pt>
                <c:pt idx="17">
                  <c:v>5.241</c:v>
                </c:pt>
                <c:pt idx="18">
                  <c:v>5.544</c:v>
                </c:pt>
                <c:pt idx="19">
                  <c:v>6.598</c:v>
                </c:pt>
                <c:pt idx="20">
                  <c:v/>
                </c:pt>
                <c:pt idx="21">
                  <c:v>8.472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9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9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6F4"/>
        </a:solidFill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정책금리</c:v>
                </c:pt>
              </c:strCache>
            </c:strRef>
          </c:tx>
          <c:spPr>
            <a:solidFill>
              <a:srgbClr val="9A9A9A"/>
            </a:solidFill>
            <a:ln w="25400" cap="flat">
              <a:solidFill>
                <a:srgbClr val="9A9A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9A9A"/>
              </a:solidFill>
              <a:ln w="9525" cap="flat">
                <a:solidFill>
                  <a:srgbClr val="9A9A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9</c:v>
                </c:pt>
                <c:pt idx="1">
                  <c:v>9</c:v>
                </c:pt>
                <c:pt idx="2">
                  <c:v>9.5</c:v>
                </c:pt>
                <c:pt idx="3">
                  <c:v>9.75</c:v>
                </c:pt>
                <c:pt idx="4">
                  <c:v>13.5</c:v>
                </c:pt>
                <c:pt idx="5">
                  <c:v>14</c:v>
                </c:pt>
                <c:pt idx="6">
                  <c:v>14.5</c:v>
                </c:pt>
                <c:pt idx="7">
                  <c:v>16.75</c:v>
                </c:pt>
                <c:pt idx="8">
                  <c:v>16.75</c:v>
                </c:pt>
                <c:pt idx="9">
                  <c:v>16.75</c:v>
                </c:pt>
                <c:pt idx="10">
                  <c:v>16.5</c:v>
                </c:pt>
                <c:pt idx="11">
                  <c:v>15.75</c:v>
                </c:pt>
                <c:pt idx="12">
                  <c:v>14.75</c:v>
                </c:pt>
                <c:pt idx="13">
                  <c:v>14.5</c:v>
                </c:pt>
                <c:pt idx="14">
                  <c:v>14.25</c:v>
                </c:pt>
                <c:pt idx="15">
                  <c:v>15.25</c:v>
                </c:pt>
                <c:pt idx="16">
                  <c:v>16.5</c:v>
                </c:pt>
                <c:pt idx="17">
                  <c:v>16.5</c:v>
                </c:pt>
                <c:pt idx="18">
                  <c:v>16.5</c:v>
                </c:pt>
                <c:pt idx="19">
                  <c:v>18</c:v>
                </c:pt>
                <c:pt idx="20">
                  <c:v>18</c:v>
                </c:pt>
                <c:pt idx="21">
                  <c:v>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국채 3년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11.619</c:v>
                </c:pt>
                <c:pt idx="5">
                  <c:v>13.399</c:v>
                </c:pt>
                <c:pt idx="6">
                  <c:v>12.95</c:v>
                </c:pt>
                <c:pt idx="7">
                  <c:v>12.945</c:v>
                </c:pt>
                <c:pt idx="8">
                  <c:v>13.781</c:v>
                </c:pt>
                <c:pt idx="9">
                  <c:v>13.241</c:v>
                </c:pt>
                <c:pt idx="10">
                  <c:v>13.574</c:v>
                </c:pt>
                <c:pt idx="11">
                  <c:v>13.736</c:v>
                </c:pt>
                <c:pt idx="12">
                  <c:v>12.206</c:v>
                </c:pt>
                <c:pt idx="13">
                  <c:v>12.314</c:v>
                </c:pt>
                <c:pt idx="14">
                  <c:v>12.93</c:v>
                </c:pt>
                <c:pt idx="15">
                  <c:v>12.182</c:v>
                </c:pt>
                <c:pt idx="16">
                  <c:v>13.067</c:v>
                </c:pt>
                <c:pt idx="17">
                  <c:v>15.691</c:v>
                </c:pt>
                <c:pt idx="18">
                  <c:v>16.923</c:v>
                </c:pt>
                <c:pt idx="19">
                  <c:v>16.879</c:v>
                </c:pt>
                <c:pt idx="20">
                  <c:v>16.203</c:v>
                </c:pt>
                <c:pt idx="21">
                  <c:v>16.274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KASE 회사채지수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Sheet1!$A$2:$A$23</c:f>
              <c:multiLvlStrCache>
                <c:ptCount val="2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2022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2023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2024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2025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2026</c:v>
                  </c:pt>
                  <c:pt idx="21">
                    <c:v/>
                  </c:pt>
                </c:lvl>
              </c:multiLvlStrCache>
            </c:multiLvl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10.709</c:v>
                </c:pt>
                <c:pt idx="1">
                  <c:v>10.567</c:v>
                </c:pt>
                <c:pt idx="2">
                  <c:v>10.33</c:v>
                </c:pt>
                <c:pt idx="3">
                  <c:v>10.348</c:v>
                </c:pt>
                <c:pt idx="4">
                  <c:v>10.739</c:v>
                </c:pt>
                <c:pt idx="5">
                  <c:v>11.35</c:v>
                </c:pt>
                <c:pt idx="6">
                  <c:v>11.713</c:v>
                </c:pt>
                <c:pt idx="7">
                  <c:v>12.342</c:v>
                </c:pt>
                <c:pt idx="8">
                  <c:v>13.15</c:v>
                </c:pt>
                <c:pt idx="9">
                  <c:v>13.809</c:v>
                </c:pt>
                <c:pt idx="10">
                  <c:v>14.177</c:v>
                </c:pt>
                <c:pt idx="11">
                  <c:v>14.508</c:v>
                </c:pt>
                <c:pt idx="12">
                  <c:v>14.284</c:v>
                </c:pt>
                <c:pt idx="13">
                  <c:v>14.069</c:v>
                </c:pt>
                <c:pt idx="14">
                  <c:v>13.864</c:v>
                </c:pt>
                <c:pt idx="15">
                  <c:v>13.687</c:v>
                </c:pt>
                <c:pt idx="16">
                  <c:v>14.144</c:v>
                </c:pt>
                <c:pt idx="17">
                  <c:v>14.739</c:v>
                </c:pt>
                <c:pt idx="18">
                  <c:v>15.822</c:v>
                </c:pt>
                <c:pt idx="19">
                  <c:v>16.81</c:v>
                </c:pt>
                <c:pt idx="20">
                  <c:v>16.691</c:v>
                </c:pt>
                <c:pt idx="21">
                  <c:v>16.699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9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6"/>
        </c:scaling>
        <c:delete val="0"/>
        <c:axPos val="l"/>
        <c:majorGridlines>
          <c:spPr>
            <a:ln w="6350" cap="flat">
              <a:solidFill>
                <a:srgbClr val="E4E3D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89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F6F6F4"/>
        </a:solidFill>
        <a:ln>
          <a:noFill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20040"/>
            <a:ext cx="6739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해외 은행 자회사 순자산 기회비용 — 벤치마크 금리 추이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749808"/>
            <a:ext cx="6739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3년물 · 현지통화 · 분기 평균(정책금리는 분기말) · 2021.1Q ~ 2026.2Q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292608" cy="0"/>
          </a:xfrm>
          <a:prstGeom prst="line">
            <a:avLst/>
          </a:prstGeom>
          <a:noFill/>
          <a:ln w="31750">
            <a:solidFill>
              <a:srgbClr val="EB68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최상위 은행채(벤치마크)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1207008"/>
            <a:ext cx="292608" cy="0"/>
          </a:xfrm>
          <a:prstGeom prst="line">
            <a:avLst/>
          </a:prstGeom>
          <a:noFill/>
          <a:ln w="31750">
            <a:solidFill>
              <a:srgbClr val="2A78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0779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국채 3년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03320" y="1207008"/>
            <a:ext cx="292608" cy="0"/>
          </a:xfrm>
          <a:prstGeom prst="line">
            <a:avLst/>
          </a:prstGeom>
          <a:noFill/>
          <a:ln w="31750">
            <a:solidFill>
              <a:srgbClr val="9A9A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50792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정책금리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6739128" cy="1993392"/>
          </a:xfrm>
          <a:prstGeom prst="rect">
            <a:avLst/>
          </a:prstGeom>
          <a:solidFill>
            <a:srgbClr val="F6F6F4"/>
          </a:solidFill>
          <a:ln w="12700">
            <a:solidFill>
              <a:srgbClr val="F6F6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</a:t>
            </a:r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JPY</a:t>
            </a:r>
            <a:endParaRPr lang="en-US" sz="14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847088"/>
          <a:ext cx="4526280" cy="1581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166360" y="186537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2025.12 벤치마크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166360" y="2048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166360" y="250545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국채 1.19% + 스프레드 40bp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27432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 → 2.0%. BOJ 정상화로 2024년부터 꾸준히 상승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166360" y="310896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업종 회사채 AA(은행 한정 아님)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11480" y="3630168"/>
            <a:ext cx="6739128" cy="1993392"/>
          </a:xfrm>
          <a:prstGeom prst="rect">
            <a:avLst/>
          </a:prstGeom>
          <a:solidFill>
            <a:srgbClr val="F6F6F4"/>
          </a:solidFill>
          <a:ln w="12700">
            <a:solidFill>
              <a:srgbClr val="F6F6F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6072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중국</a:t>
            </a:r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CNY</a:t>
            </a:r>
            <a:endParaRPr lang="en-US" sz="1400" dirty="0"/>
          </a:p>
        </p:txBody>
      </p:sp>
      <p:graphicFrame>
        <p:nvGraphicFramePr>
          <p:cNvPr id="20" name="Chart 1" descr=""/>
          <p:cNvGraphicFramePr/>
          <p:nvPr/>
        </p:nvGraphicFramePr>
        <p:xfrm>
          <a:off x="457200" y="3995928"/>
          <a:ext cx="4526280" cy="1581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5166360" y="401421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2025.12 벤치마크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5166360" y="419709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1.84%</a:t>
            </a:r>
            <a:endParaRPr lang="en-US" sz="2800" dirty="0"/>
          </a:p>
        </p:txBody>
      </p:sp>
      <p:sp>
        <p:nvSpPr>
          <p:cNvPr id="23" name="Text 19"/>
          <p:cNvSpPr txBox="1"/>
          <p:nvPr/>
        </p:nvSpPr>
        <p:spPr>
          <a:xfrm>
            <a:off x="5166360" y="46542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국채 1.40% + 스프레드 44bp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5166360" y="489204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 → 1.6%. 완화 기조로 5년 내내 하락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5166360" y="525780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정책금리 = LPR 1년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411480" y="5779008"/>
            <a:ext cx="6739128" cy="1993392"/>
          </a:xfrm>
          <a:prstGeom prst="rect">
            <a:avLst/>
          </a:prstGeom>
          <a:solidFill>
            <a:srgbClr val="F6F6F4"/>
          </a:solidFill>
          <a:ln w="12700">
            <a:solidFill>
              <a:srgbClr val="F6F6F4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76072" y="5870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</a:t>
            </a:r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VND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457200" y="6144768"/>
          <a:ext cx="4526280" cy="1581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5166360" y="616305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2025.12 벤치마크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5166360" y="634593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5.85%</a:t>
            </a:r>
            <a:endParaRPr lang="en-US" sz="2800" dirty="0"/>
          </a:p>
        </p:txBody>
      </p:sp>
      <p:sp>
        <p:nvSpPr>
          <p:cNvPr id="31" name="Text 26"/>
          <p:cNvSpPr txBox="1"/>
          <p:nvPr/>
        </p:nvSpPr>
        <p:spPr>
          <a:xfrm>
            <a:off x="5166360" y="680313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국채 3.17% + 스프레드 268bp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5166360" y="704088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고점(7.4%) 후 하락, 2025년말부터 재상승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5166360" y="740664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 = 분기 발행액 가중(발행 없는 분기 공란). 벤치마크는 Big4 기준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411480" y="7927848"/>
            <a:ext cx="6739128" cy="1993392"/>
          </a:xfrm>
          <a:prstGeom prst="rect">
            <a:avLst/>
          </a:prstGeom>
          <a:solidFill>
            <a:srgbClr val="F6F6F4"/>
          </a:solidFill>
          <a:ln w="12700">
            <a:solidFill>
              <a:srgbClr val="F6F6F4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576072" y="8019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카자흐스탄</a:t>
            </a:r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KZT</a:t>
            </a:r>
            <a:endParaRPr lang="en-US" sz="1400" dirty="0"/>
          </a:p>
        </p:txBody>
      </p:sp>
      <p:graphicFrame>
        <p:nvGraphicFramePr>
          <p:cNvPr id="36" name="Chart 3" descr=""/>
          <p:cNvGraphicFramePr/>
          <p:nvPr/>
        </p:nvGraphicFramePr>
        <p:xfrm>
          <a:off x="457200" y="8293608"/>
          <a:ext cx="4526280" cy="1581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7" name="Text 31"/>
          <p:cNvSpPr txBox="1"/>
          <p:nvPr/>
        </p:nvSpPr>
        <p:spPr>
          <a:xfrm>
            <a:off x="5166360" y="83118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2025.12 벤치마크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5166360" y="84947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5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16.83%</a:t>
            </a:r>
            <a:endParaRPr lang="en-US" sz="2800" dirty="0"/>
          </a:p>
        </p:txBody>
      </p:sp>
      <p:sp>
        <p:nvSpPr>
          <p:cNvPr id="39" name="Text 33"/>
          <p:cNvSpPr txBox="1"/>
          <p:nvPr/>
        </p:nvSpPr>
        <p:spPr>
          <a:xfrm>
            <a:off x="5166360" y="895197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국채 16.56% + 스프레드 27bp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5166360" y="91897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2022년 급등 후 16~18% 고원, 2026년 인하 시작</a:t>
            </a:r>
            <a:endParaRPr lang="en-US" sz="900" dirty="0"/>
          </a:p>
        </p:txBody>
      </p:sp>
      <p:sp>
        <p:nvSpPr>
          <p:cNvPr id="41" name="Text 35"/>
          <p:cNvSpPr txBox="1"/>
          <p:nvPr/>
        </p:nvSpPr>
        <p:spPr>
          <a:xfrm>
            <a:off x="5166360" y="955548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국채는 2022년부터. 회사채 ≈ 국채 수준</a:t>
            </a:r>
            <a:endParaRPr lang="en-US" sz="750" dirty="0"/>
          </a:p>
        </p:txBody>
      </p:sp>
      <p:sp>
        <p:nvSpPr>
          <p:cNvPr id="42" name="Text 36"/>
          <p:cNvSpPr txBox="1"/>
          <p:nvPr/>
        </p:nvSpPr>
        <p:spPr>
          <a:xfrm>
            <a:off x="411480" y="10131552"/>
            <a:ext cx="673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9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일본 재무성·JSDA 格付マトリクス, ChinaBond, VBMA 월간보고서·worldgovernmentbonds.com, KASE, BIS·SBV·NBK. 벤치마크 = 국채 3년(12월 평균) + 최상위 은행채 스프레드(베트남은 4Q 발행 기준, 카자흐는 국채·회사채지수 중 큰 값). 세전 기준.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해외 은행 자회사 기회비용 벤치마크 금리 추이</dc:title>
  <dc:subject>PptxGenJS Presentation</dc:subject>
  <dc:creator>PptxGenJS</dc:creator>
  <cp:lastModifiedBy>PptxGenJS</cp:lastModifiedBy>
  <cp:revision>1</cp:revision>
  <dcterms:created xsi:type="dcterms:W3CDTF">2026-10-01T07:36:39Z</dcterms:created>
  <dcterms:modified xsi:type="dcterms:W3CDTF">2026-10-01T07:36:39Z</dcterms:modified>
</cp:coreProperties>
</file>